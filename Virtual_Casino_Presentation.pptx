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3"/>
    <p:restoredTop sz="94704"/>
  </p:normalViewPr>
  <p:slideViewPr>
    <p:cSldViewPr snapToGrid="0" snapToObjects="1">
      <p:cViewPr varScale="1">
        <p:scale>
          <a:sx n="120" d="100"/>
          <a:sy n="120" d="100"/>
        </p:scale>
        <p:origin x="1592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12/25/25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12/25/25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12/25/25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40000">
              <a:schemeClr val="accent4">
                <a:lumMod val="20000"/>
                <a:lumOff val="80000"/>
              </a:schemeClr>
            </a:gs>
            <a:gs pos="75000">
              <a:schemeClr val="accent2">
                <a:lumMod val="20000"/>
                <a:lumOff val="80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path path="circle">
            <a:fillToRect t="100000" r="10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Разработка приложения</a:t>
            </a:r>
          </a:p>
          <a:p>
            <a:r>
              <a:t>«Виртуальное казино»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027603"/>
            <a:ext cx="6400800" cy="2288356"/>
          </a:xfrm>
        </p:spPr>
        <p:txBody>
          <a:bodyPr>
            <a:noAutofit/>
          </a:bodyPr>
          <a:lstStyle/>
          <a:p>
            <a:r>
              <a:rPr sz="2000" dirty="0" err="1">
                <a:solidFill>
                  <a:schemeClr val="tx1"/>
                </a:solidFill>
              </a:rPr>
              <a:t>Стек</a:t>
            </a:r>
            <a:r>
              <a:rPr sz="2000" dirty="0">
                <a:solidFill>
                  <a:schemeClr val="tx1"/>
                </a:solidFill>
              </a:rPr>
              <a:t>: Electron + C++ + SQLite</a:t>
            </a:r>
          </a:p>
          <a:p>
            <a:endParaRPr sz="2000" dirty="0">
              <a:solidFill>
                <a:schemeClr val="tx1"/>
              </a:solidFill>
            </a:endParaRPr>
          </a:p>
          <a:p>
            <a:r>
              <a:rPr sz="2000" dirty="0" err="1">
                <a:solidFill>
                  <a:schemeClr val="tx1"/>
                </a:solidFill>
              </a:rPr>
              <a:t>Команда</a:t>
            </a:r>
            <a:r>
              <a:rPr sz="2000" dirty="0">
                <a:solidFill>
                  <a:schemeClr val="tx1"/>
                </a:solidFill>
              </a:rPr>
              <a:t>: </a:t>
            </a:r>
            <a:r>
              <a:rPr sz="2000" dirty="0" err="1">
                <a:solidFill>
                  <a:schemeClr val="tx1"/>
                </a:solidFill>
              </a:rPr>
              <a:t>Колобов</a:t>
            </a:r>
            <a:r>
              <a:rPr sz="2000" dirty="0">
                <a:solidFill>
                  <a:schemeClr val="tx1"/>
                </a:solidFill>
              </a:rPr>
              <a:t> </a:t>
            </a:r>
            <a:r>
              <a:rPr sz="2000" dirty="0" err="1">
                <a:solidFill>
                  <a:schemeClr val="tx1"/>
                </a:solidFill>
              </a:rPr>
              <a:t>Евгений</a:t>
            </a:r>
            <a:r>
              <a:rPr sz="2000" dirty="0">
                <a:solidFill>
                  <a:schemeClr val="tx1"/>
                </a:solidFill>
              </a:rPr>
              <a:t>, </a:t>
            </a:r>
            <a:r>
              <a:rPr sz="2000" dirty="0" err="1">
                <a:solidFill>
                  <a:schemeClr val="tx1"/>
                </a:solidFill>
              </a:rPr>
              <a:t>Манько</a:t>
            </a:r>
            <a:r>
              <a:rPr sz="2000" dirty="0">
                <a:solidFill>
                  <a:schemeClr val="tx1"/>
                </a:solidFill>
              </a:rPr>
              <a:t> </a:t>
            </a:r>
            <a:r>
              <a:rPr sz="2000" dirty="0" err="1">
                <a:solidFill>
                  <a:schemeClr val="tx1"/>
                </a:solidFill>
              </a:rPr>
              <a:t>Аким</a:t>
            </a:r>
            <a:r>
              <a:rPr sz="2000" dirty="0">
                <a:solidFill>
                  <a:schemeClr val="tx1"/>
                </a:solidFill>
              </a:rPr>
              <a:t>,</a:t>
            </a:r>
          </a:p>
          <a:p>
            <a:r>
              <a:rPr sz="2000" dirty="0" err="1">
                <a:solidFill>
                  <a:schemeClr val="tx1"/>
                </a:solidFill>
              </a:rPr>
              <a:t>Деменев</a:t>
            </a:r>
            <a:r>
              <a:rPr sz="2000" dirty="0">
                <a:solidFill>
                  <a:schemeClr val="tx1"/>
                </a:solidFill>
              </a:rPr>
              <a:t> </a:t>
            </a:r>
            <a:r>
              <a:rPr sz="2000" dirty="0" err="1">
                <a:solidFill>
                  <a:schemeClr val="tx1"/>
                </a:solidFill>
              </a:rPr>
              <a:t>Данил</a:t>
            </a:r>
            <a:r>
              <a:rPr sz="2000" dirty="0">
                <a:solidFill>
                  <a:schemeClr val="tx1"/>
                </a:solidFill>
              </a:rPr>
              <a:t>, </a:t>
            </a:r>
            <a:r>
              <a:rPr sz="2000" dirty="0" err="1">
                <a:solidFill>
                  <a:schemeClr val="tx1"/>
                </a:solidFill>
              </a:rPr>
              <a:t>Гущин</a:t>
            </a:r>
            <a:r>
              <a:rPr sz="2000" dirty="0">
                <a:solidFill>
                  <a:schemeClr val="tx1"/>
                </a:solidFill>
              </a:rPr>
              <a:t> </a:t>
            </a:r>
            <a:r>
              <a:rPr sz="2000" dirty="0" err="1">
                <a:solidFill>
                  <a:schemeClr val="tx1"/>
                </a:solidFill>
              </a:rPr>
              <a:t>Даниил</a:t>
            </a:r>
            <a:r>
              <a:rPr sz="2000" dirty="0">
                <a:solidFill>
                  <a:schemeClr val="tx1"/>
                </a:solidFill>
              </a:rPr>
              <a:t>, </a:t>
            </a:r>
            <a:r>
              <a:rPr sz="2000" dirty="0" err="1">
                <a:solidFill>
                  <a:schemeClr val="tx1"/>
                </a:solidFill>
              </a:rPr>
              <a:t>Васильев</a:t>
            </a:r>
            <a:r>
              <a:rPr sz="2000" dirty="0">
                <a:solidFill>
                  <a:schemeClr val="tx1"/>
                </a:solidFill>
              </a:rPr>
              <a:t> </a:t>
            </a:r>
            <a:r>
              <a:rPr sz="2000" dirty="0" err="1">
                <a:solidFill>
                  <a:schemeClr val="tx1"/>
                </a:solidFill>
              </a:rPr>
              <a:t>Данил</a:t>
            </a:r>
            <a:endParaRPr sz="2000" dirty="0">
              <a:solidFill>
                <a:schemeClr val="tx1"/>
              </a:solidFill>
            </a:endParaRPr>
          </a:p>
          <a:p>
            <a:r>
              <a:rPr sz="2000" dirty="0" err="1">
                <a:solidFill>
                  <a:schemeClr val="tx1"/>
                </a:solidFill>
              </a:rPr>
              <a:t>Руководитель</a:t>
            </a:r>
            <a:r>
              <a:rPr sz="2000" dirty="0">
                <a:solidFill>
                  <a:schemeClr val="tx1"/>
                </a:solidFill>
              </a:rPr>
              <a:t>: О. А. </a:t>
            </a:r>
            <a:r>
              <a:rPr sz="2000" dirty="0" err="1">
                <a:solidFill>
                  <a:schemeClr val="tx1"/>
                </a:solidFill>
              </a:rPr>
              <a:t>Рослова</a:t>
            </a:r>
            <a:endParaRPr sz="2000" dirty="0">
              <a:solidFill>
                <a:schemeClr val="tx1"/>
              </a:solidFill>
            </a:endParaRPr>
          </a:p>
          <a:p>
            <a:r>
              <a:rPr sz="2000" dirty="0" err="1">
                <a:solidFill>
                  <a:schemeClr val="tx1"/>
                </a:solidFill>
              </a:rPr>
              <a:t>Санкт-Петербург</a:t>
            </a:r>
            <a:r>
              <a:rPr sz="2000" dirty="0">
                <a:solidFill>
                  <a:schemeClr val="tx1"/>
                </a:solidFill>
              </a:rPr>
              <a:t>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Цели и задачи проекта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668625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dirty="0" err="1"/>
              <a:t>Продуктовая</a:t>
            </a:r>
            <a:r>
              <a:rPr dirty="0"/>
              <a:t> </a:t>
            </a:r>
            <a:r>
              <a:rPr dirty="0" err="1"/>
              <a:t>цель</a:t>
            </a:r>
            <a:r>
              <a:rPr dirty="0"/>
              <a:t>:</a:t>
            </a:r>
          </a:p>
          <a:p>
            <a:r>
              <a:rPr dirty="0" err="1"/>
              <a:t>Создание</a:t>
            </a:r>
            <a:r>
              <a:rPr dirty="0"/>
              <a:t> Social Casino — </a:t>
            </a:r>
            <a:r>
              <a:rPr dirty="0" err="1"/>
              <a:t>офлайн-симулятора</a:t>
            </a:r>
            <a:r>
              <a:rPr dirty="0"/>
              <a:t> </a:t>
            </a:r>
            <a:r>
              <a:rPr dirty="0" err="1"/>
              <a:t>без</a:t>
            </a:r>
            <a:r>
              <a:rPr dirty="0"/>
              <a:t> </a:t>
            </a:r>
            <a:r>
              <a:rPr dirty="0" err="1"/>
              <a:t>финансовых</a:t>
            </a:r>
            <a:r>
              <a:rPr dirty="0"/>
              <a:t> </a:t>
            </a:r>
            <a:r>
              <a:rPr dirty="0" err="1"/>
              <a:t>рисков</a:t>
            </a:r>
            <a:r>
              <a:rPr dirty="0"/>
              <a:t> и </a:t>
            </a:r>
            <a:r>
              <a:rPr dirty="0" err="1"/>
              <a:t>рекламы</a:t>
            </a:r>
            <a:r>
              <a:rPr dirty="0"/>
              <a:t>.</a:t>
            </a:r>
          </a:p>
          <a:p>
            <a:endParaRPr dirty="0"/>
          </a:p>
          <a:p>
            <a:pPr marL="0" indent="0">
              <a:buNone/>
            </a:pPr>
            <a:r>
              <a:rPr dirty="0" err="1"/>
              <a:t>Образовательная</a:t>
            </a:r>
            <a:r>
              <a:rPr dirty="0"/>
              <a:t> </a:t>
            </a:r>
            <a:r>
              <a:rPr dirty="0" err="1"/>
              <a:t>цель</a:t>
            </a:r>
            <a:r>
              <a:rPr dirty="0"/>
              <a:t>:</a:t>
            </a:r>
          </a:p>
          <a:p>
            <a:r>
              <a:rPr dirty="0" err="1"/>
              <a:t>Освоение</a:t>
            </a:r>
            <a:r>
              <a:rPr dirty="0"/>
              <a:t> </a:t>
            </a:r>
            <a:r>
              <a:rPr dirty="0" err="1"/>
              <a:t>полного</a:t>
            </a:r>
            <a:r>
              <a:rPr dirty="0"/>
              <a:t> </a:t>
            </a:r>
            <a:r>
              <a:rPr dirty="0" err="1"/>
              <a:t>цикла</a:t>
            </a:r>
            <a:r>
              <a:rPr dirty="0"/>
              <a:t> SDLC, Agile-</a:t>
            </a:r>
            <a:r>
              <a:rPr dirty="0" err="1"/>
              <a:t>методологии</a:t>
            </a:r>
            <a:r>
              <a:rPr dirty="0"/>
              <a:t> и </a:t>
            </a:r>
            <a:r>
              <a:rPr dirty="0" err="1"/>
              <a:t>инструмента</a:t>
            </a:r>
            <a:r>
              <a:rPr dirty="0"/>
              <a:t> </a:t>
            </a:r>
            <a:r>
              <a:rPr dirty="0" err="1"/>
              <a:t>YouGile</a:t>
            </a:r>
            <a:r>
              <a:rPr dirty="0"/>
              <a:t>.</a:t>
            </a:r>
          </a:p>
          <a:p>
            <a:endParaRPr dirty="0"/>
          </a:p>
          <a:p>
            <a:pPr marL="0" indent="0">
              <a:buNone/>
            </a:pPr>
            <a:r>
              <a:rPr dirty="0" err="1"/>
              <a:t>Ключевые</a:t>
            </a:r>
            <a:r>
              <a:rPr dirty="0"/>
              <a:t> </a:t>
            </a:r>
            <a:r>
              <a:rPr dirty="0" err="1"/>
              <a:t>задачи</a:t>
            </a:r>
            <a:r>
              <a:rPr dirty="0"/>
              <a:t>:</a:t>
            </a:r>
          </a:p>
          <a:p>
            <a:pPr marL="0" indent="0">
              <a:buNone/>
            </a:pPr>
            <a:r>
              <a:rPr lang="ru-RU" dirty="0"/>
              <a:t>	</a:t>
            </a:r>
            <a:r>
              <a:rPr dirty="0"/>
              <a:t>1. </a:t>
            </a:r>
            <a:r>
              <a:rPr dirty="0" err="1"/>
              <a:t>Проектирование</a:t>
            </a:r>
            <a:r>
              <a:rPr dirty="0"/>
              <a:t> </a:t>
            </a:r>
            <a:r>
              <a:rPr dirty="0" err="1"/>
              <a:t>архитектуры</a:t>
            </a:r>
            <a:r>
              <a:rPr dirty="0"/>
              <a:t> (UI vs Core).</a:t>
            </a:r>
          </a:p>
          <a:p>
            <a:pPr marL="0" indent="0">
              <a:buNone/>
            </a:pPr>
            <a:r>
              <a:rPr lang="ru-RU" dirty="0"/>
              <a:t>	</a:t>
            </a:r>
            <a:r>
              <a:rPr dirty="0"/>
              <a:t>2. </a:t>
            </a:r>
            <a:r>
              <a:rPr dirty="0" err="1"/>
              <a:t>Разработка</a:t>
            </a:r>
            <a:r>
              <a:rPr dirty="0"/>
              <a:t> </a:t>
            </a:r>
            <a:r>
              <a:rPr dirty="0" err="1"/>
              <a:t>математических</a:t>
            </a:r>
            <a:r>
              <a:rPr dirty="0"/>
              <a:t> </a:t>
            </a:r>
            <a:r>
              <a:rPr dirty="0" err="1"/>
              <a:t>моделей</a:t>
            </a:r>
            <a:r>
              <a:rPr dirty="0"/>
              <a:t> </a:t>
            </a:r>
            <a:r>
              <a:rPr dirty="0" err="1"/>
              <a:t>игр</a:t>
            </a:r>
            <a:r>
              <a:rPr dirty="0"/>
              <a:t>.</a:t>
            </a:r>
          </a:p>
          <a:p>
            <a:pPr marL="0" indent="0">
              <a:buNone/>
            </a:pPr>
            <a:r>
              <a:rPr lang="ru-RU" dirty="0"/>
              <a:t>	</a:t>
            </a:r>
            <a:r>
              <a:rPr dirty="0"/>
              <a:t>3. </a:t>
            </a:r>
            <a:r>
              <a:rPr dirty="0" err="1"/>
              <a:t>Создание</a:t>
            </a:r>
            <a:r>
              <a:rPr dirty="0"/>
              <a:t> </a:t>
            </a:r>
            <a:r>
              <a:rPr dirty="0" err="1"/>
              <a:t>локальной</a:t>
            </a:r>
            <a:r>
              <a:rPr dirty="0"/>
              <a:t> БД и </a:t>
            </a:r>
            <a:r>
              <a:rPr dirty="0" err="1"/>
              <a:t>системы</a:t>
            </a:r>
            <a:r>
              <a:rPr dirty="0"/>
              <a:t> </a:t>
            </a:r>
            <a:r>
              <a:rPr dirty="0" err="1"/>
              <a:t>аналитики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Актуальность и Значимость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15759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dirty="0" err="1"/>
              <a:t>Проблема</a:t>
            </a:r>
            <a:r>
              <a:rPr dirty="0"/>
              <a:t>:</a:t>
            </a:r>
          </a:p>
          <a:p>
            <a:r>
              <a:rPr dirty="0" err="1"/>
              <a:t>Дефицит</a:t>
            </a:r>
            <a:r>
              <a:rPr dirty="0"/>
              <a:t> </a:t>
            </a:r>
            <a:r>
              <a:rPr dirty="0" err="1"/>
              <a:t>качественных</a:t>
            </a:r>
            <a:r>
              <a:rPr dirty="0"/>
              <a:t> </a:t>
            </a:r>
            <a:r>
              <a:rPr dirty="0" err="1"/>
              <a:t>десктопных</a:t>
            </a:r>
            <a:r>
              <a:rPr dirty="0"/>
              <a:t> </a:t>
            </a:r>
            <a:r>
              <a:rPr dirty="0" err="1"/>
              <a:t>офлайн-клиентов</a:t>
            </a:r>
            <a:r>
              <a:rPr dirty="0"/>
              <a:t> </a:t>
            </a:r>
            <a:r>
              <a:rPr dirty="0" err="1"/>
              <a:t>казино</a:t>
            </a:r>
            <a:r>
              <a:rPr dirty="0"/>
              <a:t>.</a:t>
            </a:r>
          </a:p>
          <a:p>
            <a:r>
              <a:rPr dirty="0" err="1"/>
              <a:t>Риск</a:t>
            </a:r>
            <a:r>
              <a:rPr dirty="0"/>
              <a:t> </a:t>
            </a:r>
            <a:r>
              <a:rPr dirty="0" err="1"/>
              <a:t>лудомании</a:t>
            </a:r>
            <a:r>
              <a:rPr dirty="0"/>
              <a:t> в </a:t>
            </a:r>
            <a:r>
              <a:rPr dirty="0" err="1"/>
              <a:t>онлайн-казино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реальные</a:t>
            </a:r>
            <a:r>
              <a:rPr dirty="0"/>
              <a:t> </a:t>
            </a:r>
            <a:r>
              <a:rPr dirty="0" err="1"/>
              <a:t>деньги</a:t>
            </a:r>
            <a:r>
              <a:rPr dirty="0"/>
              <a:t>.</a:t>
            </a:r>
          </a:p>
          <a:p>
            <a:endParaRPr dirty="0"/>
          </a:p>
          <a:p>
            <a:pPr marL="0" indent="0">
              <a:buNone/>
            </a:pPr>
            <a:r>
              <a:rPr dirty="0" err="1"/>
              <a:t>Решение</a:t>
            </a:r>
            <a:r>
              <a:rPr dirty="0"/>
              <a:t>:</a:t>
            </a:r>
          </a:p>
          <a:p>
            <a:r>
              <a:rPr dirty="0" err="1"/>
              <a:t>Безопасность</a:t>
            </a:r>
            <a:r>
              <a:rPr dirty="0"/>
              <a:t>: </a:t>
            </a:r>
            <a:r>
              <a:rPr dirty="0" err="1"/>
              <a:t>Психологическая</a:t>
            </a:r>
            <a:r>
              <a:rPr dirty="0"/>
              <a:t> </a:t>
            </a:r>
            <a:r>
              <a:rPr dirty="0" err="1"/>
              <a:t>разгрузка</a:t>
            </a:r>
            <a:r>
              <a:rPr dirty="0"/>
              <a:t> </a:t>
            </a:r>
            <a:r>
              <a:rPr dirty="0" err="1"/>
              <a:t>без</a:t>
            </a:r>
            <a:r>
              <a:rPr dirty="0"/>
              <a:t> </a:t>
            </a:r>
            <a:r>
              <a:rPr dirty="0" err="1"/>
              <a:t>риска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кошелька</a:t>
            </a:r>
            <a:r>
              <a:rPr dirty="0"/>
              <a:t>.</a:t>
            </a:r>
          </a:p>
          <a:p>
            <a:r>
              <a:rPr dirty="0" err="1"/>
              <a:t>Автономность</a:t>
            </a:r>
            <a:r>
              <a:rPr dirty="0"/>
              <a:t>: </a:t>
            </a:r>
            <a:r>
              <a:rPr dirty="0" err="1"/>
              <a:t>Работа</a:t>
            </a:r>
            <a:r>
              <a:rPr dirty="0"/>
              <a:t> </a:t>
            </a:r>
            <a:r>
              <a:rPr dirty="0" err="1"/>
              <a:t>без</a:t>
            </a:r>
            <a:r>
              <a:rPr dirty="0"/>
              <a:t> </a:t>
            </a:r>
            <a:r>
              <a:rPr dirty="0" err="1"/>
              <a:t>интернета</a:t>
            </a:r>
            <a:r>
              <a:rPr dirty="0"/>
              <a:t> (</a:t>
            </a:r>
            <a:r>
              <a:rPr dirty="0" err="1"/>
              <a:t>поезд</a:t>
            </a:r>
            <a:r>
              <a:rPr dirty="0"/>
              <a:t>, </a:t>
            </a:r>
            <a:r>
              <a:rPr dirty="0" err="1"/>
              <a:t>самолет</a:t>
            </a:r>
            <a:r>
              <a:rPr dirty="0"/>
              <a:t>).</a:t>
            </a:r>
          </a:p>
          <a:p>
            <a:r>
              <a:rPr dirty="0" err="1"/>
              <a:t>Компетенции</a:t>
            </a:r>
            <a:r>
              <a:rPr dirty="0"/>
              <a:t>: </a:t>
            </a:r>
            <a:r>
              <a:rPr dirty="0" err="1"/>
              <a:t>Освоение</a:t>
            </a:r>
            <a:r>
              <a:rPr dirty="0"/>
              <a:t> </a:t>
            </a:r>
            <a:r>
              <a:rPr dirty="0" err="1"/>
              <a:t>стека</a:t>
            </a:r>
            <a:r>
              <a:rPr dirty="0"/>
              <a:t> Electron + C++.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Анализ аналогов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4524" y="1417638"/>
            <a:ext cx="4572000" cy="4845379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dirty="0" err="1"/>
              <a:t>Сравнение</a:t>
            </a:r>
            <a:r>
              <a:rPr dirty="0"/>
              <a:t> с </a:t>
            </a:r>
            <a:r>
              <a:rPr dirty="0" err="1"/>
              <a:t>конкурентами</a:t>
            </a:r>
            <a:r>
              <a:rPr dirty="0"/>
              <a:t>:</a:t>
            </a:r>
          </a:p>
          <a:p>
            <a:r>
              <a:rPr dirty="0"/>
              <a:t>PokerStars: </a:t>
            </a:r>
            <a:r>
              <a:rPr dirty="0" err="1"/>
              <a:t>Требует</a:t>
            </a:r>
            <a:r>
              <a:rPr dirty="0"/>
              <a:t> </a:t>
            </a:r>
            <a:r>
              <a:rPr dirty="0" err="1"/>
              <a:t>интернет</a:t>
            </a:r>
            <a:r>
              <a:rPr dirty="0"/>
              <a:t>, </a:t>
            </a:r>
            <a:r>
              <a:rPr dirty="0" err="1"/>
              <a:t>сложная</a:t>
            </a:r>
            <a:r>
              <a:rPr dirty="0"/>
              <a:t> </a:t>
            </a:r>
            <a:r>
              <a:rPr dirty="0" err="1"/>
              <a:t>верификация</a:t>
            </a:r>
            <a:r>
              <a:rPr dirty="0"/>
              <a:t>.</a:t>
            </a:r>
          </a:p>
          <a:p>
            <a:r>
              <a:rPr dirty="0" err="1"/>
              <a:t>Huuuge</a:t>
            </a:r>
            <a:r>
              <a:rPr dirty="0"/>
              <a:t> Casino: </a:t>
            </a:r>
            <a:r>
              <a:rPr dirty="0" err="1"/>
              <a:t>Веб-оболочка</a:t>
            </a:r>
            <a:r>
              <a:rPr dirty="0"/>
              <a:t>, </a:t>
            </a:r>
            <a:r>
              <a:rPr dirty="0" err="1"/>
              <a:t>много</a:t>
            </a:r>
            <a:r>
              <a:rPr dirty="0"/>
              <a:t> </a:t>
            </a:r>
            <a:r>
              <a:rPr dirty="0" err="1"/>
              <a:t>рекламы</a:t>
            </a:r>
            <a:r>
              <a:rPr dirty="0"/>
              <a:t>.</a:t>
            </a:r>
          </a:p>
          <a:p>
            <a:r>
              <a:rPr dirty="0"/>
              <a:t>Four Kings: </a:t>
            </a:r>
            <a:r>
              <a:rPr dirty="0" err="1"/>
              <a:t>Высокие</a:t>
            </a:r>
            <a:r>
              <a:rPr dirty="0"/>
              <a:t> </a:t>
            </a:r>
            <a:r>
              <a:rPr dirty="0" err="1"/>
              <a:t>требования</a:t>
            </a:r>
            <a:r>
              <a:rPr dirty="0"/>
              <a:t> (3D).</a:t>
            </a:r>
          </a:p>
          <a:p>
            <a:endParaRPr dirty="0"/>
          </a:p>
          <a:p>
            <a:pPr marL="0" indent="0">
              <a:buNone/>
            </a:pPr>
            <a:r>
              <a:rPr dirty="0" err="1"/>
              <a:t>Наши</a:t>
            </a:r>
            <a:r>
              <a:rPr dirty="0"/>
              <a:t> </a:t>
            </a:r>
            <a:r>
              <a:rPr dirty="0" err="1"/>
              <a:t>преимущества</a:t>
            </a:r>
            <a:r>
              <a:rPr dirty="0"/>
              <a:t>:</a:t>
            </a:r>
          </a:p>
          <a:p>
            <a:r>
              <a:rPr dirty="0" err="1"/>
              <a:t>Легковесность</a:t>
            </a:r>
            <a:r>
              <a:rPr dirty="0"/>
              <a:t>.</a:t>
            </a:r>
          </a:p>
          <a:p>
            <a:r>
              <a:rPr dirty="0" err="1"/>
              <a:t>Честная</a:t>
            </a:r>
            <a:r>
              <a:rPr dirty="0"/>
              <a:t> </a:t>
            </a:r>
            <a:r>
              <a:rPr dirty="0" err="1"/>
              <a:t>математика</a:t>
            </a:r>
            <a:r>
              <a:rPr dirty="0"/>
              <a:t> (C++).</a:t>
            </a:r>
          </a:p>
          <a:p>
            <a:r>
              <a:rPr dirty="0" err="1"/>
              <a:t>Отсутствие</a:t>
            </a:r>
            <a:r>
              <a:rPr dirty="0"/>
              <a:t> </a:t>
            </a:r>
            <a:r>
              <a:rPr dirty="0" err="1"/>
              <a:t>доната</a:t>
            </a:r>
            <a:r>
              <a:rPr dirty="0"/>
              <a:t>.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C2A5940-62EA-4B24-8F80-FAF3BA7F17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9666" y="1417638"/>
            <a:ext cx="4113993" cy="496918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Выбор технологий (Tech Stack)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5097" y="1417638"/>
            <a:ext cx="4572000" cy="4864231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dirty="0"/>
              <a:t>Frontend (</a:t>
            </a:r>
            <a:r>
              <a:rPr dirty="0" err="1"/>
              <a:t>Интерфейс</a:t>
            </a:r>
            <a:r>
              <a:rPr dirty="0"/>
              <a:t>): Electron</a:t>
            </a:r>
          </a:p>
          <a:p>
            <a:r>
              <a:rPr dirty="0"/>
              <a:t>HTML/CSS/JS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гибкого</a:t>
            </a:r>
            <a:r>
              <a:rPr dirty="0"/>
              <a:t> UI.</a:t>
            </a:r>
          </a:p>
          <a:p>
            <a:r>
              <a:rPr dirty="0" err="1"/>
              <a:t>Кроссплатформенность</a:t>
            </a:r>
            <a:r>
              <a:rPr dirty="0"/>
              <a:t> (Win/Lin/Mac).</a:t>
            </a:r>
          </a:p>
          <a:p>
            <a:endParaRPr dirty="0"/>
          </a:p>
          <a:p>
            <a:pPr marL="0" indent="0">
              <a:buNone/>
            </a:pPr>
            <a:r>
              <a:rPr dirty="0"/>
              <a:t>Backend (</a:t>
            </a:r>
            <a:r>
              <a:rPr dirty="0" err="1"/>
              <a:t>Логика</a:t>
            </a:r>
            <a:r>
              <a:rPr dirty="0"/>
              <a:t>): C++</a:t>
            </a:r>
          </a:p>
          <a:p>
            <a:r>
              <a:rPr dirty="0" err="1"/>
              <a:t>Высокая</a:t>
            </a:r>
            <a:r>
              <a:rPr dirty="0"/>
              <a:t> </a:t>
            </a:r>
            <a:r>
              <a:rPr dirty="0" err="1"/>
              <a:t>производительность</a:t>
            </a:r>
            <a:r>
              <a:rPr dirty="0"/>
              <a:t>.</a:t>
            </a:r>
          </a:p>
          <a:p>
            <a:r>
              <a:rPr dirty="0" err="1"/>
              <a:t>Защита</a:t>
            </a:r>
            <a:r>
              <a:rPr dirty="0"/>
              <a:t> </a:t>
            </a:r>
            <a:r>
              <a:rPr dirty="0" err="1"/>
              <a:t>алгоритмов</a:t>
            </a:r>
            <a:r>
              <a:rPr dirty="0"/>
              <a:t> ГСЧ.</a:t>
            </a:r>
          </a:p>
          <a:p>
            <a:endParaRPr dirty="0"/>
          </a:p>
          <a:p>
            <a:pPr marL="0" indent="0">
              <a:buNone/>
            </a:pPr>
            <a:r>
              <a:rPr dirty="0" err="1"/>
              <a:t>База</a:t>
            </a:r>
            <a:r>
              <a:rPr dirty="0"/>
              <a:t> </a:t>
            </a:r>
            <a:r>
              <a:rPr dirty="0" err="1"/>
              <a:t>данных</a:t>
            </a:r>
            <a:r>
              <a:rPr dirty="0"/>
              <a:t>: SQLite</a:t>
            </a:r>
          </a:p>
          <a:p>
            <a:r>
              <a:rPr dirty="0" err="1"/>
              <a:t>Локальное</a:t>
            </a:r>
            <a:r>
              <a:rPr dirty="0"/>
              <a:t> </a:t>
            </a:r>
            <a:r>
              <a:rPr dirty="0" err="1"/>
              <a:t>хранение</a:t>
            </a:r>
            <a:r>
              <a:rPr dirty="0"/>
              <a:t> в </a:t>
            </a:r>
            <a:r>
              <a:rPr dirty="0" err="1"/>
              <a:t>одном</a:t>
            </a:r>
            <a:r>
              <a:rPr dirty="0"/>
              <a:t> </a:t>
            </a:r>
            <a:r>
              <a:rPr dirty="0" err="1"/>
              <a:t>файле</a:t>
            </a:r>
            <a:r>
              <a:rPr dirty="0"/>
              <a:t>.</a:t>
            </a:r>
          </a:p>
          <a:p>
            <a:r>
              <a:rPr dirty="0" err="1"/>
              <a:t>Надежность</a:t>
            </a:r>
            <a:r>
              <a:rPr dirty="0"/>
              <a:t> и </a:t>
            </a:r>
            <a:r>
              <a:rPr dirty="0" err="1"/>
              <a:t>транзакционность</a:t>
            </a:r>
            <a:r>
              <a:rPr dirty="0"/>
              <a:t>.</a:t>
            </a:r>
          </a:p>
        </p:txBody>
      </p:sp>
      <p:pic>
        <p:nvPicPr>
          <p:cNvPr id="1026" name="Picture 2" descr="Electron.js Tutorial - DEV Community">
            <a:extLst>
              <a:ext uri="{FF2B5EF4-FFF2-40B4-BE49-F238E27FC236}">
                <a16:creationId xmlns:a16="http://schemas.microsoft.com/office/drawing/2014/main" id="{8E28AC9F-91B4-4C1E-B8A8-40CD08A522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3825" y="1804423"/>
            <a:ext cx="3249153" cy="324915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Архитектура приложения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0829" y="1436491"/>
            <a:ext cx="4421171" cy="4059333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dirty="0" err="1"/>
              <a:t>Два</a:t>
            </a:r>
            <a:r>
              <a:rPr dirty="0"/>
              <a:t> </a:t>
            </a:r>
            <a:r>
              <a:rPr dirty="0" err="1"/>
              <a:t>ключевых</a:t>
            </a:r>
            <a:r>
              <a:rPr dirty="0"/>
              <a:t> </a:t>
            </a:r>
            <a:r>
              <a:rPr dirty="0" err="1"/>
              <a:t>процесса</a:t>
            </a:r>
            <a:r>
              <a:rPr dirty="0"/>
              <a:t>:</a:t>
            </a:r>
          </a:p>
          <a:p>
            <a:pPr marL="0" indent="0">
              <a:buNone/>
            </a:pPr>
            <a:r>
              <a:rPr lang="ru-RU" dirty="0"/>
              <a:t>	</a:t>
            </a:r>
            <a:r>
              <a:rPr dirty="0"/>
              <a:t>1. Main Process (</a:t>
            </a:r>
            <a:r>
              <a:rPr dirty="0" err="1"/>
              <a:t>Окна</a:t>
            </a:r>
            <a:r>
              <a:rPr dirty="0"/>
              <a:t>, ОС).</a:t>
            </a:r>
          </a:p>
          <a:p>
            <a:pPr marL="0" indent="0">
              <a:buNone/>
            </a:pPr>
            <a:r>
              <a:rPr lang="ru-RU" dirty="0"/>
              <a:t>	</a:t>
            </a:r>
            <a:r>
              <a:rPr dirty="0"/>
              <a:t>2. Renderer Process (UI).</a:t>
            </a:r>
          </a:p>
          <a:p>
            <a:endParaRPr dirty="0"/>
          </a:p>
          <a:p>
            <a:pPr marL="0" indent="0">
              <a:buNone/>
            </a:pPr>
            <a:r>
              <a:rPr dirty="0" err="1"/>
              <a:t>Взаимодействие</a:t>
            </a:r>
            <a:r>
              <a:rPr dirty="0"/>
              <a:t>:</a:t>
            </a:r>
          </a:p>
          <a:p>
            <a:r>
              <a:rPr dirty="0"/>
              <a:t>UI -&gt; </a:t>
            </a:r>
            <a:r>
              <a:rPr dirty="0" err="1"/>
              <a:t>Запрос</a:t>
            </a:r>
            <a:r>
              <a:rPr dirty="0"/>
              <a:t> в C++ DLL -&gt; </a:t>
            </a:r>
            <a:r>
              <a:rPr dirty="0" err="1"/>
              <a:t>Расчет</a:t>
            </a:r>
            <a:r>
              <a:rPr dirty="0"/>
              <a:t> </a:t>
            </a:r>
            <a:r>
              <a:rPr dirty="0" err="1"/>
              <a:t>математики</a:t>
            </a:r>
            <a:r>
              <a:rPr dirty="0"/>
              <a:t> -&gt; </a:t>
            </a:r>
            <a:r>
              <a:rPr dirty="0" err="1"/>
              <a:t>Запись</a:t>
            </a:r>
            <a:r>
              <a:rPr dirty="0"/>
              <a:t> в SQLite -&gt; </a:t>
            </a:r>
            <a:r>
              <a:rPr dirty="0" err="1"/>
              <a:t>Обновление</a:t>
            </a:r>
            <a:r>
              <a:rPr dirty="0"/>
              <a:t> UI.</a:t>
            </a:r>
          </a:p>
          <a:p>
            <a:endParaRPr dirty="0"/>
          </a:p>
          <a:p>
            <a:pPr marL="0" indent="0">
              <a:buNone/>
            </a:pPr>
            <a:r>
              <a:rPr dirty="0" err="1"/>
              <a:t>Изоляция</a:t>
            </a:r>
            <a:r>
              <a:rPr dirty="0"/>
              <a:t>:</a:t>
            </a:r>
          </a:p>
          <a:p>
            <a:r>
              <a:rPr dirty="0" err="1"/>
              <a:t>Логика</a:t>
            </a:r>
            <a:r>
              <a:rPr dirty="0"/>
              <a:t> </a:t>
            </a:r>
            <a:r>
              <a:rPr dirty="0" err="1"/>
              <a:t>отделена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рендера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безопасности</a:t>
            </a:r>
            <a:r>
              <a:rPr dirty="0"/>
              <a:t>.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5C20198-2D44-497D-A0C6-7507011F14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6502" y="1606175"/>
            <a:ext cx="4286669" cy="383418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Функциональные требования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dirty="0"/>
              <a:t>1. </a:t>
            </a:r>
            <a:r>
              <a:rPr dirty="0" err="1"/>
              <a:t>Управление</a:t>
            </a:r>
            <a:r>
              <a:rPr dirty="0"/>
              <a:t> </a:t>
            </a:r>
            <a:r>
              <a:rPr dirty="0" err="1"/>
              <a:t>профилем</a:t>
            </a:r>
            <a:r>
              <a:rPr dirty="0"/>
              <a:t>:</a:t>
            </a:r>
          </a:p>
          <a:p>
            <a:r>
              <a:rPr dirty="0"/>
              <a:t>   </a:t>
            </a:r>
            <a:r>
              <a:rPr dirty="0" err="1"/>
              <a:t>Создание</a:t>
            </a:r>
            <a:r>
              <a:rPr dirty="0"/>
              <a:t>, </a:t>
            </a:r>
            <a:r>
              <a:rPr dirty="0" err="1"/>
              <a:t>выбор</a:t>
            </a:r>
            <a:r>
              <a:rPr dirty="0"/>
              <a:t> </a:t>
            </a:r>
            <a:r>
              <a:rPr dirty="0" err="1"/>
              <a:t>аватара</a:t>
            </a:r>
            <a:r>
              <a:rPr dirty="0"/>
              <a:t>, </a:t>
            </a:r>
            <a:r>
              <a:rPr dirty="0" err="1"/>
              <a:t>статистика</a:t>
            </a:r>
            <a:r>
              <a:rPr dirty="0"/>
              <a:t>.</a:t>
            </a:r>
          </a:p>
          <a:p>
            <a:pPr marL="0" indent="0">
              <a:buNone/>
            </a:pPr>
            <a:r>
              <a:rPr dirty="0"/>
              <a:t>2. </a:t>
            </a:r>
            <a:r>
              <a:rPr dirty="0" err="1"/>
              <a:t>Игровой</a:t>
            </a:r>
            <a:r>
              <a:rPr dirty="0"/>
              <a:t> </a:t>
            </a:r>
            <a:r>
              <a:rPr dirty="0" err="1"/>
              <a:t>процесс</a:t>
            </a:r>
            <a:r>
              <a:rPr dirty="0"/>
              <a:t>:</a:t>
            </a:r>
          </a:p>
          <a:p>
            <a:r>
              <a:rPr dirty="0"/>
              <a:t>   </a:t>
            </a:r>
            <a:r>
              <a:rPr dirty="0" err="1"/>
              <a:t>Слоты</a:t>
            </a:r>
            <a:r>
              <a:rPr dirty="0"/>
              <a:t>, </a:t>
            </a:r>
            <a:r>
              <a:rPr dirty="0" err="1"/>
              <a:t>Блэкджек</a:t>
            </a:r>
            <a:r>
              <a:rPr dirty="0"/>
              <a:t>, </a:t>
            </a:r>
            <a:r>
              <a:rPr dirty="0" err="1"/>
              <a:t>Рулетка</a:t>
            </a:r>
            <a:r>
              <a:rPr dirty="0"/>
              <a:t>.</a:t>
            </a:r>
          </a:p>
          <a:p>
            <a:pPr marL="0" indent="0">
              <a:buNone/>
            </a:pPr>
            <a:r>
              <a:rPr dirty="0"/>
              <a:t>3. </a:t>
            </a:r>
            <a:r>
              <a:rPr dirty="0" err="1"/>
              <a:t>Финансы</a:t>
            </a:r>
            <a:r>
              <a:rPr dirty="0"/>
              <a:t>:</a:t>
            </a:r>
          </a:p>
          <a:p>
            <a:r>
              <a:rPr dirty="0"/>
              <a:t>   </a:t>
            </a:r>
            <a:r>
              <a:rPr dirty="0" err="1"/>
              <a:t>Ставки</a:t>
            </a:r>
            <a:r>
              <a:rPr dirty="0"/>
              <a:t>, </a:t>
            </a:r>
            <a:r>
              <a:rPr dirty="0" err="1"/>
              <a:t>начисление</a:t>
            </a:r>
            <a:r>
              <a:rPr dirty="0"/>
              <a:t> </a:t>
            </a:r>
            <a:r>
              <a:rPr dirty="0" err="1"/>
              <a:t>выигрыша</a:t>
            </a:r>
            <a:r>
              <a:rPr dirty="0"/>
              <a:t>.</a:t>
            </a:r>
          </a:p>
          <a:p>
            <a:r>
              <a:rPr dirty="0"/>
              <a:t>   </a:t>
            </a:r>
            <a:r>
              <a:rPr dirty="0" err="1"/>
              <a:t>Защита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отрицательного</a:t>
            </a:r>
            <a:r>
              <a:rPr dirty="0"/>
              <a:t> </a:t>
            </a:r>
            <a:r>
              <a:rPr dirty="0" err="1"/>
              <a:t>баланса</a:t>
            </a:r>
            <a:r>
              <a:rPr dirty="0"/>
              <a:t>.</a:t>
            </a:r>
          </a:p>
          <a:p>
            <a:pPr marL="0" indent="0">
              <a:buNone/>
            </a:pPr>
            <a:r>
              <a:rPr dirty="0"/>
              <a:t>4. </a:t>
            </a:r>
            <a:r>
              <a:rPr dirty="0" err="1"/>
              <a:t>Настройки</a:t>
            </a:r>
            <a:r>
              <a:rPr dirty="0"/>
              <a:t>:</a:t>
            </a:r>
          </a:p>
          <a:p>
            <a:r>
              <a:rPr dirty="0"/>
              <a:t>   </a:t>
            </a:r>
            <a:r>
              <a:rPr dirty="0" err="1"/>
              <a:t>Звук</a:t>
            </a:r>
            <a:r>
              <a:rPr dirty="0"/>
              <a:t>, </a:t>
            </a:r>
            <a:r>
              <a:rPr dirty="0" err="1"/>
              <a:t>полноэкранный</a:t>
            </a:r>
            <a:r>
              <a:rPr dirty="0"/>
              <a:t> </a:t>
            </a:r>
            <a:r>
              <a:rPr dirty="0" err="1"/>
              <a:t>режим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Качество системы (QoS)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7963" y="1753388"/>
            <a:ext cx="4572000" cy="4081806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dirty="0" err="1"/>
              <a:t>Производительность</a:t>
            </a:r>
            <a:r>
              <a:rPr dirty="0"/>
              <a:t>:</a:t>
            </a:r>
          </a:p>
          <a:p>
            <a:r>
              <a:rPr dirty="0"/>
              <a:t>30+ FPS </a:t>
            </a:r>
            <a:r>
              <a:rPr dirty="0" err="1"/>
              <a:t>анимации</a:t>
            </a:r>
            <a:r>
              <a:rPr dirty="0"/>
              <a:t>.</a:t>
            </a:r>
          </a:p>
          <a:p>
            <a:r>
              <a:rPr dirty="0" err="1"/>
              <a:t>Отклик</a:t>
            </a:r>
            <a:r>
              <a:rPr dirty="0"/>
              <a:t> </a:t>
            </a:r>
            <a:r>
              <a:rPr dirty="0" err="1"/>
              <a:t>интерфейса</a:t>
            </a:r>
            <a:r>
              <a:rPr dirty="0"/>
              <a:t> &lt; 200 </a:t>
            </a:r>
            <a:r>
              <a:rPr dirty="0" err="1"/>
              <a:t>мс</a:t>
            </a:r>
            <a:r>
              <a:rPr dirty="0"/>
              <a:t>.</a:t>
            </a:r>
          </a:p>
          <a:p>
            <a:endParaRPr dirty="0"/>
          </a:p>
          <a:p>
            <a:pPr marL="0" indent="0">
              <a:buNone/>
            </a:pPr>
            <a:r>
              <a:rPr dirty="0" err="1"/>
              <a:t>Надежность</a:t>
            </a:r>
            <a:r>
              <a:rPr dirty="0"/>
              <a:t>:</a:t>
            </a:r>
          </a:p>
          <a:p>
            <a:r>
              <a:rPr dirty="0" err="1"/>
              <a:t>Атомарные</a:t>
            </a:r>
            <a:r>
              <a:rPr dirty="0"/>
              <a:t> </a:t>
            </a:r>
            <a:r>
              <a:rPr dirty="0" err="1"/>
              <a:t>транзакции</a:t>
            </a:r>
            <a:r>
              <a:rPr dirty="0"/>
              <a:t> (</a:t>
            </a:r>
            <a:r>
              <a:rPr dirty="0" err="1"/>
              <a:t>сохранение</a:t>
            </a:r>
            <a:r>
              <a:rPr dirty="0"/>
              <a:t> </a:t>
            </a: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каждого</a:t>
            </a:r>
            <a:r>
              <a:rPr dirty="0"/>
              <a:t> </a:t>
            </a:r>
            <a:r>
              <a:rPr dirty="0" err="1"/>
              <a:t>спина</a:t>
            </a:r>
            <a:r>
              <a:rPr dirty="0"/>
              <a:t>).</a:t>
            </a:r>
          </a:p>
          <a:p>
            <a:r>
              <a:rPr dirty="0" err="1"/>
              <a:t>Работа</a:t>
            </a:r>
            <a:r>
              <a:rPr dirty="0"/>
              <a:t> </a:t>
            </a:r>
            <a:r>
              <a:rPr dirty="0" err="1"/>
              <a:t>без</a:t>
            </a:r>
            <a:r>
              <a:rPr dirty="0"/>
              <a:t> </a:t>
            </a:r>
            <a:r>
              <a:rPr dirty="0" err="1"/>
              <a:t>сбоев</a:t>
            </a:r>
            <a:r>
              <a:rPr dirty="0"/>
              <a:t> </a:t>
            </a:r>
            <a:r>
              <a:rPr dirty="0" err="1"/>
              <a:t>при</a:t>
            </a:r>
            <a:r>
              <a:rPr dirty="0"/>
              <a:t> </a:t>
            </a:r>
            <a:r>
              <a:rPr dirty="0" err="1"/>
              <a:t>разрыве</a:t>
            </a:r>
            <a:r>
              <a:rPr dirty="0"/>
              <a:t> </a:t>
            </a:r>
            <a:r>
              <a:rPr dirty="0" err="1"/>
              <a:t>сети</a:t>
            </a:r>
            <a:r>
              <a:rPr dirty="0"/>
              <a:t>.</a:t>
            </a:r>
          </a:p>
          <a:p>
            <a:endParaRPr dirty="0"/>
          </a:p>
          <a:p>
            <a:pPr marL="0" indent="0">
              <a:buNone/>
            </a:pPr>
            <a:r>
              <a:rPr dirty="0" err="1"/>
              <a:t>Безопасность</a:t>
            </a:r>
            <a:r>
              <a:rPr dirty="0"/>
              <a:t>:</a:t>
            </a:r>
          </a:p>
          <a:p>
            <a:r>
              <a:rPr dirty="0" err="1"/>
              <a:t>Локальная</a:t>
            </a:r>
            <a:r>
              <a:rPr dirty="0"/>
              <a:t> </a:t>
            </a:r>
            <a:r>
              <a:rPr dirty="0" err="1"/>
              <a:t>защита</a:t>
            </a:r>
            <a:r>
              <a:rPr dirty="0"/>
              <a:t> </a:t>
            </a:r>
            <a:r>
              <a:rPr dirty="0" err="1"/>
              <a:t>файла</a:t>
            </a:r>
            <a:r>
              <a:rPr dirty="0"/>
              <a:t> БД.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608A9D0-330A-40A2-B992-2DA1FDF7E7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9963" y="1439151"/>
            <a:ext cx="4137072" cy="439604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Интерфейс: Главное меню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7390" y="1943099"/>
            <a:ext cx="2801624" cy="3947337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dirty="0" err="1"/>
              <a:t>Стиль</a:t>
            </a:r>
            <a:r>
              <a:rPr dirty="0"/>
              <a:t>: Dark Theme</a:t>
            </a:r>
          </a:p>
          <a:p>
            <a:r>
              <a:rPr dirty="0" err="1"/>
              <a:t>Снижение</a:t>
            </a:r>
            <a:r>
              <a:rPr dirty="0"/>
              <a:t> </a:t>
            </a:r>
            <a:r>
              <a:rPr dirty="0" err="1"/>
              <a:t>нагрузки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глаза</a:t>
            </a:r>
            <a:r>
              <a:rPr dirty="0"/>
              <a:t>.</a:t>
            </a:r>
          </a:p>
          <a:p>
            <a:r>
              <a:rPr dirty="0" err="1"/>
              <a:t>Акцентные</a:t>
            </a:r>
            <a:r>
              <a:rPr dirty="0"/>
              <a:t> </a:t>
            </a:r>
            <a:r>
              <a:rPr dirty="0" err="1"/>
              <a:t>цвета</a:t>
            </a:r>
            <a:r>
              <a:rPr dirty="0"/>
              <a:t> (</a:t>
            </a:r>
            <a:r>
              <a:rPr dirty="0" err="1"/>
              <a:t>золотой</a:t>
            </a:r>
            <a:r>
              <a:rPr dirty="0"/>
              <a:t>, </a:t>
            </a:r>
            <a:r>
              <a:rPr dirty="0" err="1"/>
              <a:t>зеленый</a:t>
            </a:r>
            <a:r>
              <a:rPr dirty="0"/>
              <a:t>).</a:t>
            </a:r>
          </a:p>
          <a:p>
            <a:endParaRPr dirty="0"/>
          </a:p>
          <a:p>
            <a:pPr marL="0" indent="0">
              <a:buNone/>
            </a:pPr>
            <a:r>
              <a:rPr dirty="0"/>
              <a:t>UX </a:t>
            </a:r>
            <a:r>
              <a:rPr dirty="0" err="1"/>
              <a:t>решения</a:t>
            </a:r>
            <a:r>
              <a:rPr dirty="0"/>
              <a:t>:</a:t>
            </a:r>
          </a:p>
          <a:p>
            <a:r>
              <a:rPr dirty="0" err="1"/>
              <a:t>Единое</a:t>
            </a:r>
            <a:r>
              <a:rPr dirty="0"/>
              <a:t> </a:t>
            </a:r>
            <a:r>
              <a:rPr dirty="0" err="1"/>
              <a:t>окно</a:t>
            </a:r>
            <a:r>
              <a:rPr dirty="0"/>
              <a:t> (SPA).</a:t>
            </a:r>
          </a:p>
          <a:p>
            <a:r>
              <a:rPr dirty="0" err="1"/>
              <a:t>Интуитивная</a:t>
            </a:r>
            <a:r>
              <a:rPr dirty="0"/>
              <a:t> </a:t>
            </a:r>
            <a:r>
              <a:rPr dirty="0" err="1"/>
              <a:t>навигация</a:t>
            </a:r>
            <a:r>
              <a:rPr dirty="0"/>
              <a:t> (</a:t>
            </a:r>
            <a:r>
              <a:rPr dirty="0" err="1"/>
              <a:t>Лобби</a:t>
            </a:r>
            <a:r>
              <a:rPr dirty="0"/>
              <a:t> -&gt; </a:t>
            </a:r>
            <a:r>
              <a:rPr dirty="0" err="1"/>
              <a:t>Игра</a:t>
            </a:r>
            <a:r>
              <a:rPr dirty="0"/>
              <a:t>).</a:t>
            </a:r>
          </a:p>
          <a:p>
            <a:r>
              <a:rPr dirty="0" err="1"/>
              <a:t>Графики</a:t>
            </a:r>
            <a:r>
              <a:rPr dirty="0"/>
              <a:t> </a:t>
            </a:r>
            <a:r>
              <a:rPr dirty="0" err="1"/>
              <a:t>статистики</a:t>
            </a:r>
            <a:r>
              <a:rPr dirty="0"/>
              <a:t> в </a:t>
            </a:r>
            <a:r>
              <a:rPr dirty="0" err="1"/>
              <a:t>профиле</a:t>
            </a:r>
            <a:r>
              <a:rPr dirty="0"/>
              <a:t>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1828800"/>
            <a:ext cx="3657600" cy="3657600"/>
          </a:xfrm>
          <a:prstGeom prst="rect">
            <a:avLst/>
          </a:prstGeom>
          <a:solidFill>
            <a:srgbClr val="C8C8C8"/>
          </a:solidFill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ВСТАВИТЬ СКРИНШОТ:</a:t>
            </a:r>
          </a:p>
          <a:p>
            <a:r>
              <a:t>Главное меню (Стр. 16, Рис. 1)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FCD4AB3-8A0A-5549-B3A2-D95A2FCE22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4758" y="1739197"/>
            <a:ext cx="5241852" cy="383680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Игровая механика: Слоты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5670" y="1828800"/>
            <a:ext cx="3219911" cy="3429000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dirty="0" err="1"/>
              <a:t>Интерфейс</a:t>
            </a:r>
            <a:r>
              <a:rPr dirty="0"/>
              <a:t>:</a:t>
            </a:r>
          </a:p>
          <a:p>
            <a:r>
              <a:rPr dirty="0" err="1"/>
              <a:t>Динамические</a:t>
            </a:r>
            <a:r>
              <a:rPr dirty="0"/>
              <a:t> </a:t>
            </a:r>
            <a:r>
              <a:rPr dirty="0" err="1"/>
              <a:t>барабаны</a:t>
            </a:r>
            <a:r>
              <a:rPr dirty="0"/>
              <a:t>.</a:t>
            </a:r>
          </a:p>
          <a:p>
            <a:r>
              <a:rPr dirty="0" err="1"/>
              <a:t>Панель</a:t>
            </a:r>
            <a:r>
              <a:rPr dirty="0"/>
              <a:t> </a:t>
            </a:r>
            <a:r>
              <a:rPr dirty="0" err="1"/>
              <a:t>ставок</a:t>
            </a:r>
            <a:r>
              <a:rPr dirty="0"/>
              <a:t> (Bet Control).</a:t>
            </a:r>
          </a:p>
          <a:p>
            <a:r>
              <a:rPr dirty="0" err="1"/>
              <a:t>Уведомления</a:t>
            </a:r>
            <a:r>
              <a:rPr dirty="0"/>
              <a:t> о </a:t>
            </a:r>
            <a:r>
              <a:rPr dirty="0" err="1"/>
              <a:t>выигрышах</a:t>
            </a:r>
            <a:r>
              <a:rPr dirty="0"/>
              <a:t> (Big Win).</a:t>
            </a:r>
          </a:p>
          <a:p>
            <a:endParaRPr dirty="0"/>
          </a:p>
          <a:p>
            <a:pPr marL="0" indent="0">
              <a:buNone/>
            </a:pPr>
            <a:r>
              <a:rPr dirty="0" err="1"/>
              <a:t>Логика</a:t>
            </a:r>
            <a:r>
              <a:rPr dirty="0"/>
              <a:t>:</a:t>
            </a:r>
          </a:p>
          <a:p>
            <a:r>
              <a:rPr dirty="0" err="1"/>
              <a:t>Генерация</a:t>
            </a:r>
            <a:r>
              <a:rPr dirty="0"/>
              <a:t> </a:t>
            </a:r>
            <a:r>
              <a:rPr dirty="0" err="1"/>
              <a:t>матрицы</a:t>
            </a:r>
            <a:r>
              <a:rPr dirty="0"/>
              <a:t> </a:t>
            </a:r>
            <a:r>
              <a:rPr dirty="0" err="1"/>
              <a:t>символов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C++.</a:t>
            </a:r>
          </a:p>
          <a:p>
            <a:r>
              <a:rPr dirty="0" err="1"/>
              <a:t>Расчет</a:t>
            </a:r>
            <a:r>
              <a:rPr dirty="0"/>
              <a:t> </a:t>
            </a:r>
            <a:r>
              <a:rPr dirty="0" err="1"/>
              <a:t>линий</a:t>
            </a:r>
            <a:r>
              <a:rPr dirty="0"/>
              <a:t> </a:t>
            </a:r>
            <a:r>
              <a:rPr dirty="0" err="1"/>
              <a:t>выплат</a:t>
            </a:r>
            <a:r>
              <a:rPr dirty="0"/>
              <a:t>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1828800"/>
            <a:ext cx="3657600" cy="3657600"/>
          </a:xfrm>
          <a:prstGeom prst="rect">
            <a:avLst/>
          </a:prstGeom>
          <a:solidFill>
            <a:srgbClr val="C8C8C8"/>
          </a:solidFill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ВСТАВИТЬ СКРИНШОТ:</a:t>
            </a:r>
          </a:p>
          <a:p>
            <a:r>
              <a:t>Слоты (Стр. 17, Рис. 2)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C91718C-EDC7-0F48-BEEE-5F359899FA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3172" y="1828800"/>
            <a:ext cx="5560828" cy="369481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Игровая механика: Black Jack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5670" y="1478829"/>
            <a:ext cx="3251809" cy="4357541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dirty="0" err="1"/>
              <a:t>Элементы</a:t>
            </a:r>
            <a:r>
              <a:rPr dirty="0"/>
              <a:t> </a:t>
            </a:r>
            <a:r>
              <a:rPr dirty="0" err="1"/>
              <a:t>стола</a:t>
            </a:r>
            <a:r>
              <a:rPr dirty="0"/>
              <a:t>:</a:t>
            </a:r>
          </a:p>
          <a:p>
            <a:r>
              <a:rPr dirty="0" err="1"/>
              <a:t>Зона</a:t>
            </a:r>
            <a:r>
              <a:rPr dirty="0"/>
              <a:t> </a:t>
            </a:r>
            <a:r>
              <a:rPr dirty="0" err="1"/>
              <a:t>дилера</a:t>
            </a:r>
            <a:r>
              <a:rPr dirty="0"/>
              <a:t> и </a:t>
            </a:r>
            <a:r>
              <a:rPr dirty="0" err="1"/>
              <a:t>игрока</a:t>
            </a:r>
            <a:r>
              <a:rPr dirty="0"/>
              <a:t>.</a:t>
            </a:r>
          </a:p>
          <a:p>
            <a:r>
              <a:rPr dirty="0" err="1"/>
              <a:t>Отображение</a:t>
            </a:r>
            <a:r>
              <a:rPr dirty="0"/>
              <a:t> </a:t>
            </a:r>
            <a:r>
              <a:rPr dirty="0" err="1"/>
              <a:t>очков</a:t>
            </a:r>
            <a:r>
              <a:rPr dirty="0"/>
              <a:t>.</a:t>
            </a:r>
          </a:p>
          <a:p>
            <a:endParaRPr dirty="0"/>
          </a:p>
          <a:p>
            <a:pPr marL="0" indent="0">
              <a:buNone/>
            </a:pPr>
            <a:r>
              <a:rPr dirty="0" err="1"/>
              <a:t>Управление</a:t>
            </a:r>
            <a:r>
              <a:rPr dirty="0"/>
              <a:t>:</a:t>
            </a:r>
          </a:p>
          <a:p>
            <a:r>
              <a:rPr dirty="0"/>
              <a:t>HIT (</a:t>
            </a:r>
            <a:r>
              <a:rPr dirty="0" err="1"/>
              <a:t>Взять</a:t>
            </a:r>
            <a:r>
              <a:rPr dirty="0"/>
              <a:t> </a:t>
            </a:r>
            <a:r>
              <a:rPr dirty="0" err="1"/>
              <a:t>карту</a:t>
            </a:r>
            <a:r>
              <a:rPr dirty="0"/>
              <a:t>).</a:t>
            </a:r>
          </a:p>
          <a:p>
            <a:r>
              <a:rPr dirty="0"/>
              <a:t>STAND (</a:t>
            </a:r>
            <a:r>
              <a:rPr dirty="0" err="1"/>
              <a:t>Хватит</a:t>
            </a:r>
            <a:r>
              <a:rPr dirty="0"/>
              <a:t>/</a:t>
            </a:r>
            <a:r>
              <a:rPr dirty="0" err="1"/>
              <a:t>Себе</a:t>
            </a:r>
            <a:r>
              <a:rPr dirty="0"/>
              <a:t>).</a:t>
            </a:r>
          </a:p>
          <a:p>
            <a:endParaRPr dirty="0"/>
          </a:p>
          <a:p>
            <a:pPr marL="0" indent="0">
              <a:buNone/>
            </a:pPr>
            <a:r>
              <a:rPr dirty="0" err="1"/>
              <a:t>Особенности</a:t>
            </a:r>
            <a:r>
              <a:rPr dirty="0"/>
              <a:t>:</a:t>
            </a:r>
          </a:p>
          <a:p>
            <a:r>
              <a:rPr dirty="0" err="1"/>
              <a:t>Честная</a:t>
            </a:r>
            <a:r>
              <a:rPr dirty="0"/>
              <a:t> </a:t>
            </a:r>
            <a:r>
              <a:rPr dirty="0" err="1"/>
              <a:t>колода</a:t>
            </a:r>
            <a:r>
              <a:rPr dirty="0"/>
              <a:t> (</a:t>
            </a:r>
            <a:r>
              <a:rPr dirty="0" err="1"/>
              <a:t>без</a:t>
            </a:r>
            <a:r>
              <a:rPr dirty="0"/>
              <a:t> </a:t>
            </a:r>
            <a:r>
              <a:rPr dirty="0" err="1"/>
              <a:t>подтасовки</a:t>
            </a:r>
            <a:r>
              <a:rPr dirty="0"/>
              <a:t>).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9DA6DB1-2E2B-674B-A44C-079E59B0A6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9660" y="1778480"/>
            <a:ext cx="5338670" cy="330103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Концептуальная модель БД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50710"/>
            <a:ext cx="5280217" cy="2014159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dirty="0" err="1"/>
              <a:t>Ключевые</a:t>
            </a:r>
            <a:r>
              <a:rPr dirty="0"/>
              <a:t> </a:t>
            </a:r>
            <a:r>
              <a:rPr dirty="0" err="1"/>
              <a:t>сущности</a:t>
            </a:r>
            <a:r>
              <a:rPr dirty="0"/>
              <a:t>:</a:t>
            </a:r>
          </a:p>
          <a:p>
            <a:r>
              <a:rPr dirty="0"/>
              <a:t>Players (</a:t>
            </a:r>
            <a:r>
              <a:rPr dirty="0" err="1"/>
              <a:t>Профили</a:t>
            </a:r>
            <a:r>
              <a:rPr dirty="0"/>
              <a:t>, </a:t>
            </a:r>
            <a:r>
              <a:rPr dirty="0" err="1"/>
              <a:t>баланс</a:t>
            </a:r>
            <a:r>
              <a:rPr dirty="0"/>
              <a:t>).</a:t>
            </a:r>
          </a:p>
          <a:p>
            <a:r>
              <a:rPr dirty="0" err="1"/>
              <a:t>GameEntity</a:t>
            </a:r>
            <a:r>
              <a:rPr dirty="0"/>
              <a:t> (</a:t>
            </a:r>
            <a:r>
              <a:rPr dirty="0" err="1"/>
              <a:t>Игры</a:t>
            </a:r>
            <a:r>
              <a:rPr dirty="0"/>
              <a:t>, </a:t>
            </a:r>
            <a:r>
              <a:rPr dirty="0" err="1"/>
              <a:t>конфиги</a:t>
            </a:r>
            <a:r>
              <a:rPr dirty="0"/>
              <a:t>).</a:t>
            </a:r>
          </a:p>
          <a:p>
            <a:r>
              <a:rPr dirty="0"/>
              <a:t>Rounds (</a:t>
            </a:r>
            <a:r>
              <a:rPr dirty="0" err="1"/>
              <a:t>История</a:t>
            </a:r>
            <a:r>
              <a:rPr dirty="0"/>
              <a:t> </a:t>
            </a:r>
            <a:r>
              <a:rPr dirty="0" err="1"/>
              <a:t>действий</a:t>
            </a:r>
            <a:r>
              <a:rPr dirty="0"/>
              <a:t>).</a:t>
            </a:r>
          </a:p>
          <a:p>
            <a:r>
              <a:rPr dirty="0"/>
              <a:t>Roles (</a:t>
            </a:r>
            <a:r>
              <a:rPr dirty="0" err="1"/>
              <a:t>Права</a:t>
            </a:r>
            <a:r>
              <a:rPr dirty="0"/>
              <a:t> </a:t>
            </a:r>
            <a:r>
              <a:rPr dirty="0" err="1"/>
              <a:t>доступа</a:t>
            </a:r>
            <a:r>
              <a:rPr dirty="0"/>
              <a:t>).</a:t>
            </a:r>
          </a:p>
          <a:p>
            <a:endParaRPr dirty="0"/>
          </a:p>
          <a:p>
            <a:pPr marL="0" indent="0">
              <a:buNone/>
            </a:pPr>
            <a:r>
              <a:rPr dirty="0" err="1"/>
              <a:t>Связи</a:t>
            </a:r>
            <a:r>
              <a:rPr dirty="0"/>
              <a:t>:</a:t>
            </a:r>
          </a:p>
          <a:p>
            <a:r>
              <a:rPr dirty="0" err="1"/>
              <a:t>Один</a:t>
            </a:r>
            <a:r>
              <a:rPr dirty="0"/>
              <a:t> </a:t>
            </a:r>
            <a:r>
              <a:rPr dirty="0" err="1"/>
              <a:t>игрок</a:t>
            </a:r>
            <a:r>
              <a:rPr dirty="0"/>
              <a:t> -&gt; </a:t>
            </a:r>
            <a:r>
              <a:rPr dirty="0" err="1"/>
              <a:t>Много</a:t>
            </a:r>
            <a:r>
              <a:rPr dirty="0"/>
              <a:t> </a:t>
            </a:r>
            <a:r>
              <a:rPr dirty="0" err="1"/>
              <a:t>раундов</a:t>
            </a:r>
            <a:r>
              <a:rPr dirty="0"/>
              <a:t> (1:N).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C9ED680-63FC-4E4E-A32F-C8401D0259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697942"/>
            <a:ext cx="7697972" cy="262636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Нормализация базы данных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dirty="0" err="1"/>
              <a:t>Проблема</a:t>
            </a:r>
            <a:r>
              <a:rPr dirty="0"/>
              <a:t> 1НФ:</a:t>
            </a:r>
          </a:p>
          <a:p>
            <a:r>
              <a:rPr dirty="0" err="1"/>
              <a:t>Дублирование</a:t>
            </a:r>
            <a:r>
              <a:rPr dirty="0"/>
              <a:t> </a:t>
            </a:r>
            <a:r>
              <a:rPr dirty="0" err="1"/>
              <a:t>прав</a:t>
            </a:r>
            <a:r>
              <a:rPr dirty="0"/>
              <a:t> </a:t>
            </a:r>
            <a:r>
              <a:rPr dirty="0" err="1"/>
              <a:t>доступа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каждого</a:t>
            </a:r>
            <a:r>
              <a:rPr dirty="0"/>
              <a:t> </a:t>
            </a:r>
            <a:r>
              <a:rPr dirty="0" err="1"/>
              <a:t>игрока</a:t>
            </a:r>
            <a:r>
              <a:rPr dirty="0"/>
              <a:t> и </a:t>
            </a:r>
            <a:r>
              <a:rPr dirty="0" err="1"/>
              <a:t>описаний</a:t>
            </a:r>
            <a:r>
              <a:rPr dirty="0"/>
              <a:t> </a:t>
            </a:r>
            <a:r>
              <a:rPr dirty="0" err="1"/>
              <a:t>игр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каждого</a:t>
            </a:r>
            <a:r>
              <a:rPr dirty="0"/>
              <a:t> </a:t>
            </a:r>
            <a:r>
              <a:rPr dirty="0" err="1"/>
              <a:t>раунда</a:t>
            </a:r>
            <a:r>
              <a:rPr dirty="0"/>
              <a:t>.</a:t>
            </a:r>
          </a:p>
          <a:p>
            <a:endParaRPr lang="ru-RU" dirty="0"/>
          </a:p>
          <a:p>
            <a:pPr marL="0" indent="0">
              <a:buNone/>
            </a:pPr>
            <a:r>
              <a:rPr dirty="0" err="1"/>
              <a:t>Решение</a:t>
            </a:r>
            <a:r>
              <a:rPr dirty="0"/>
              <a:t> (3НФ):</a:t>
            </a:r>
          </a:p>
          <a:p>
            <a:pPr marL="0" indent="0">
              <a:buNone/>
            </a:pPr>
            <a:r>
              <a:rPr lang="ru-RU" dirty="0"/>
              <a:t>	</a:t>
            </a:r>
            <a:r>
              <a:rPr dirty="0"/>
              <a:t>1. </a:t>
            </a:r>
            <a:r>
              <a:rPr dirty="0" err="1"/>
              <a:t>Выделение</a:t>
            </a:r>
            <a:r>
              <a:rPr dirty="0"/>
              <a:t> </a:t>
            </a:r>
            <a:r>
              <a:rPr dirty="0" err="1"/>
              <a:t>таблицы</a:t>
            </a:r>
            <a:r>
              <a:rPr dirty="0"/>
              <a:t> Permissions (</a:t>
            </a:r>
            <a:r>
              <a:rPr dirty="0" err="1"/>
              <a:t>права</a:t>
            </a:r>
            <a:r>
              <a:rPr dirty="0"/>
              <a:t> </a:t>
            </a:r>
            <a:r>
              <a:rPr dirty="0" err="1"/>
              <a:t>вынесены</a:t>
            </a:r>
            <a:r>
              <a:rPr dirty="0"/>
              <a:t> </a:t>
            </a:r>
            <a:r>
              <a:rPr dirty="0" err="1"/>
              <a:t>из</a:t>
            </a:r>
            <a:r>
              <a:rPr dirty="0"/>
              <a:t> Players).</a:t>
            </a:r>
          </a:p>
          <a:p>
            <a:pPr marL="0" indent="0">
              <a:buNone/>
            </a:pPr>
            <a:r>
              <a:rPr lang="ru-RU" dirty="0"/>
              <a:t>	</a:t>
            </a:r>
            <a:r>
              <a:rPr dirty="0"/>
              <a:t>2. </a:t>
            </a:r>
            <a:r>
              <a:rPr dirty="0" err="1"/>
              <a:t>Выделение</a:t>
            </a:r>
            <a:r>
              <a:rPr dirty="0"/>
              <a:t> </a:t>
            </a:r>
            <a:r>
              <a:rPr dirty="0" err="1"/>
              <a:t>GameCategories</a:t>
            </a:r>
            <a:r>
              <a:rPr dirty="0"/>
              <a:t> (</a:t>
            </a:r>
            <a:r>
              <a:rPr dirty="0" err="1"/>
              <a:t>категории</a:t>
            </a:r>
            <a:r>
              <a:rPr dirty="0"/>
              <a:t> </a:t>
            </a:r>
            <a:r>
              <a:rPr dirty="0" err="1"/>
              <a:t>отдельно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игр</a:t>
            </a:r>
            <a:r>
              <a:rPr dirty="0"/>
              <a:t>).</a:t>
            </a:r>
          </a:p>
          <a:p>
            <a:pPr marL="0" indent="0">
              <a:buNone/>
            </a:pPr>
            <a:r>
              <a:rPr lang="ru-RU" dirty="0"/>
              <a:t>	</a:t>
            </a:r>
            <a:r>
              <a:rPr dirty="0"/>
              <a:t>3. </a:t>
            </a:r>
            <a:r>
              <a:rPr dirty="0" err="1"/>
              <a:t>Устранение</a:t>
            </a:r>
            <a:r>
              <a:rPr dirty="0"/>
              <a:t> </a:t>
            </a:r>
            <a:r>
              <a:rPr dirty="0" err="1"/>
              <a:t>транзитивных</a:t>
            </a:r>
            <a:r>
              <a:rPr dirty="0"/>
              <a:t> </a:t>
            </a:r>
            <a:r>
              <a:rPr dirty="0" err="1"/>
              <a:t>зависимостей</a:t>
            </a:r>
            <a:r>
              <a:rPr dirty="0"/>
              <a:t>.</a:t>
            </a:r>
          </a:p>
          <a:p>
            <a:endParaRPr lang="ru-RU" dirty="0"/>
          </a:p>
          <a:p>
            <a:pPr marL="0" indent="0">
              <a:buNone/>
            </a:pPr>
            <a:r>
              <a:rPr dirty="0" err="1"/>
              <a:t>Результат</a:t>
            </a:r>
            <a:r>
              <a:rPr dirty="0"/>
              <a:t>: </a:t>
            </a:r>
            <a:r>
              <a:rPr dirty="0" err="1"/>
              <a:t>Уменьшение</a:t>
            </a:r>
            <a:r>
              <a:rPr dirty="0"/>
              <a:t> </a:t>
            </a:r>
            <a:r>
              <a:rPr dirty="0" err="1"/>
              <a:t>объема</a:t>
            </a:r>
            <a:r>
              <a:rPr dirty="0"/>
              <a:t> БД и </a:t>
            </a:r>
            <a:r>
              <a:rPr dirty="0" err="1"/>
              <a:t>исключение</a:t>
            </a:r>
            <a:r>
              <a:rPr dirty="0"/>
              <a:t> </a:t>
            </a:r>
            <a:r>
              <a:rPr dirty="0" err="1"/>
              <a:t>аномалий</a:t>
            </a:r>
            <a:r>
              <a:rPr dirty="0"/>
              <a:t> </a:t>
            </a:r>
            <a:r>
              <a:rPr dirty="0" err="1"/>
              <a:t>обновления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Физическая модель данных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1" y="1419191"/>
            <a:ext cx="4114800" cy="1143001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dirty="0" err="1"/>
              <a:t>Итоговая</a:t>
            </a:r>
            <a:r>
              <a:rPr dirty="0"/>
              <a:t> </a:t>
            </a:r>
            <a:r>
              <a:rPr dirty="0" err="1"/>
              <a:t>структура</a:t>
            </a:r>
            <a:r>
              <a:rPr dirty="0"/>
              <a:t>:</a:t>
            </a:r>
          </a:p>
          <a:p>
            <a:r>
              <a:rPr dirty="0" err="1"/>
              <a:t>Таблицы</a:t>
            </a:r>
            <a:r>
              <a:rPr dirty="0"/>
              <a:t> </a:t>
            </a:r>
            <a:r>
              <a:rPr dirty="0" err="1"/>
              <a:t>связаны</a:t>
            </a:r>
            <a:r>
              <a:rPr dirty="0"/>
              <a:t> </a:t>
            </a:r>
            <a:r>
              <a:rPr dirty="0" err="1"/>
              <a:t>внешними</a:t>
            </a:r>
            <a:r>
              <a:rPr dirty="0"/>
              <a:t> </a:t>
            </a:r>
            <a:r>
              <a:rPr dirty="0" err="1"/>
              <a:t>ключами</a:t>
            </a:r>
            <a:r>
              <a:rPr dirty="0"/>
              <a:t> (FK).</a:t>
            </a:r>
          </a:p>
          <a:p>
            <a:r>
              <a:rPr dirty="0" err="1"/>
              <a:t>Индексы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быстрого</a:t>
            </a:r>
            <a:r>
              <a:rPr dirty="0"/>
              <a:t> </a:t>
            </a:r>
            <a:r>
              <a:rPr dirty="0" err="1"/>
              <a:t>поиска</a:t>
            </a:r>
            <a:r>
              <a:rPr dirty="0"/>
              <a:t>.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06ED1CC-AA11-4DB2-A3D9-7E46483BD5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877403"/>
            <a:ext cx="7079530" cy="378811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C2B24D2-6D35-4842-A643-C0CAC5CF8BA6}"/>
              </a:ext>
            </a:extLst>
          </p:cNvPr>
          <p:cNvSpPr txBox="1"/>
          <p:nvPr/>
        </p:nvSpPr>
        <p:spPr>
          <a:xfrm>
            <a:off x="4572001" y="1417638"/>
            <a:ext cx="4572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ru-RU" dirty="0"/>
              <a:t>Таблицы:</a:t>
            </a:r>
          </a:p>
          <a:p>
            <a:r>
              <a:rPr lang="en-US" dirty="0"/>
              <a:t>Players, Games, Rounds, Roles, Permissions.</a:t>
            </a:r>
          </a:p>
          <a:p>
            <a:r>
              <a:rPr lang="en-US" dirty="0" err="1"/>
              <a:t>StripePayments</a:t>
            </a:r>
            <a:r>
              <a:rPr lang="en-US" dirty="0"/>
              <a:t> (</a:t>
            </a:r>
            <a:r>
              <a:rPr lang="ru-RU" dirty="0"/>
              <a:t>для эмуляции транзакций).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Система аналитики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3950" y="1828800"/>
            <a:ext cx="4223208" cy="3657599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dirty="0"/>
              <a:t>SQL-</a:t>
            </a:r>
            <a:r>
              <a:rPr dirty="0" err="1"/>
              <a:t>запросы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отчетов</a:t>
            </a:r>
            <a:r>
              <a:rPr dirty="0"/>
              <a:t>:</a:t>
            </a:r>
          </a:p>
          <a:p>
            <a:r>
              <a:rPr dirty="0"/>
              <a:t>Топ-10 </a:t>
            </a:r>
            <a:r>
              <a:rPr dirty="0" err="1"/>
              <a:t>игроков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балансу</a:t>
            </a:r>
            <a:r>
              <a:rPr dirty="0"/>
              <a:t>.</a:t>
            </a:r>
          </a:p>
          <a:p>
            <a:r>
              <a:rPr dirty="0" err="1"/>
              <a:t>Прибыльность</a:t>
            </a:r>
            <a:r>
              <a:rPr dirty="0"/>
              <a:t> </a:t>
            </a:r>
            <a:r>
              <a:rPr dirty="0" err="1"/>
              <a:t>игр</a:t>
            </a:r>
            <a:r>
              <a:rPr dirty="0"/>
              <a:t> (RTP)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категориям</a:t>
            </a:r>
            <a:r>
              <a:rPr dirty="0"/>
              <a:t>.</a:t>
            </a:r>
          </a:p>
          <a:p>
            <a:r>
              <a:rPr dirty="0" err="1"/>
              <a:t>Поиск</a:t>
            </a:r>
            <a:r>
              <a:rPr dirty="0"/>
              <a:t> </a:t>
            </a:r>
            <a:r>
              <a:rPr dirty="0" err="1"/>
              <a:t>аномалий</a:t>
            </a:r>
            <a:r>
              <a:rPr dirty="0"/>
              <a:t> (</a:t>
            </a:r>
            <a:r>
              <a:rPr dirty="0" err="1"/>
              <a:t>отрицательный</a:t>
            </a:r>
            <a:r>
              <a:rPr dirty="0"/>
              <a:t> </a:t>
            </a:r>
            <a:r>
              <a:rPr dirty="0" err="1"/>
              <a:t>баланс</a:t>
            </a:r>
            <a:r>
              <a:rPr dirty="0"/>
              <a:t>).</a:t>
            </a:r>
          </a:p>
          <a:p>
            <a:r>
              <a:rPr dirty="0" err="1"/>
              <a:t>Активность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датам</a:t>
            </a:r>
            <a:r>
              <a:rPr dirty="0"/>
              <a:t>.</a:t>
            </a:r>
          </a:p>
          <a:p>
            <a:endParaRPr dirty="0"/>
          </a:p>
          <a:p>
            <a:pPr marL="0" indent="0">
              <a:buNone/>
            </a:pPr>
            <a:r>
              <a:rPr dirty="0" err="1"/>
              <a:t>Значение</a:t>
            </a:r>
            <a:r>
              <a:rPr dirty="0"/>
              <a:t>:</a:t>
            </a:r>
          </a:p>
          <a:p>
            <a:r>
              <a:rPr dirty="0" err="1"/>
              <a:t>Позволяет</a:t>
            </a:r>
            <a:r>
              <a:rPr dirty="0"/>
              <a:t> </a:t>
            </a:r>
            <a:r>
              <a:rPr dirty="0" err="1"/>
              <a:t>администрировать</a:t>
            </a:r>
            <a:r>
              <a:rPr dirty="0"/>
              <a:t> </a:t>
            </a:r>
            <a:r>
              <a:rPr dirty="0" err="1"/>
              <a:t>экономику</a:t>
            </a:r>
            <a:r>
              <a:rPr dirty="0"/>
              <a:t> </a:t>
            </a:r>
            <a:r>
              <a:rPr dirty="0" err="1"/>
              <a:t>игры</a:t>
            </a:r>
            <a:r>
              <a:rPr dirty="0"/>
              <a:t>.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A018455-BC41-4A7E-89D3-F594C16D6E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7038" y="1695827"/>
            <a:ext cx="3973012" cy="346634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Реализация ядра (C++)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4524" y="1826443"/>
            <a:ext cx="4317476" cy="3544479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dirty="0" err="1"/>
              <a:t>Библиотека</a:t>
            </a:r>
            <a:r>
              <a:rPr dirty="0"/>
              <a:t> slots.dll:</a:t>
            </a:r>
          </a:p>
          <a:p>
            <a:r>
              <a:rPr dirty="0" err="1"/>
              <a:t>Класс</a:t>
            </a:r>
            <a:r>
              <a:rPr dirty="0"/>
              <a:t> Params: </a:t>
            </a:r>
            <a:r>
              <a:rPr dirty="0" err="1"/>
              <a:t>Парсинг</a:t>
            </a:r>
            <a:r>
              <a:rPr dirty="0"/>
              <a:t> JSON-</a:t>
            </a:r>
            <a:r>
              <a:rPr dirty="0" err="1"/>
              <a:t>конфигов</a:t>
            </a:r>
            <a:r>
              <a:rPr dirty="0"/>
              <a:t>.</a:t>
            </a:r>
          </a:p>
          <a:p>
            <a:r>
              <a:rPr dirty="0" err="1"/>
              <a:t>Класс</a:t>
            </a:r>
            <a:r>
              <a:rPr dirty="0"/>
              <a:t> </a:t>
            </a:r>
            <a:r>
              <a:rPr dirty="0" err="1"/>
              <a:t>RetStruct</a:t>
            </a:r>
            <a:r>
              <a:rPr dirty="0"/>
              <a:t>: </a:t>
            </a:r>
            <a:r>
              <a:rPr dirty="0" err="1"/>
              <a:t>Передача</a:t>
            </a:r>
            <a:r>
              <a:rPr dirty="0"/>
              <a:t> </a:t>
            </a:r>
            <a:r>
              <a:rPr dirty="0" err="1"/>
              <a:t>результатов</a:t>
            </a:r>
            <a:r>
              <a:rPr dirty="0"/>
              <a:t>.</a:t>
            </a:r>
          </a:p>
          <a:p>
            <a:endParaRPr dirty="0"/>
          </a:p>
          <a:p>
            <a:pPr marL="0" indent="0">
              <a:buNone/>
            </a:pPr>
            <a:r>
              <a:rPr dirty="0" err="1"/>
              <a:t>Безопасность</a:t>
            </a:r>
            <a:r>
              <a:rPr dirty="0"/>
              <a:t>:</a:t>
            </a:r>
          </a:p>
          <a:p>
            <a:r>
              <a:rPr dirty="0" err="1"/>
              <a:t>Логика</a:t>
            </a:r>
            <a:r>
              <a:rPr dirty="0"/>
              <a:t> </a:t>
            </a:r>
            <a:r>
              <a:rPr dirty="0" err="1"/>
              <a:t>полностью</a:t>
            </a:r>
            <a:r>
              <a:rPr dirty="0"/>
              <a:t> </a:t>
            </a:r>
            <a:r>
              <a:rPr dirty="0" err="1"/>
              <a:t>скрыта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Frontend.</a:t>
            </a:r>
          </a:p>
          <a:p>
            <a:r>
              <a:rPr dirty="0" err="1"/>
              <a:t>Невозможно</a:t>
            </a:r>
            <a:r>
              <a:rPr dirty="0"/>
              <a:t> </a:t>
            </a:r>
            <a:r>
              <a:rPr dirty="0" err="1"/>
              <a:t>накрутить</a:t>
            </a:r>
            <a:r>
              <a:rPr dirty="0"/>
              <a:t> </a:t>
            </a:r>
            <a:r>
              <a:rPr dirty="0" err="1"/>
              <a:t>выигрыш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 JS-</a:t>
            </a:r>
            <a:r>
              <a:rPr dirty="0" err="1"/>
              <a:t>консоль</a:t>
            </a:r>
            <a:r>
              <a:rPr dirty="0"/>
              <a:t>.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753FB4D-8C90-4CAF-B2E6-D1A5130990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4904" y="1417638"/>
            <a:ext cx="3721896" cy="490840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Алгоритм генерации спина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dirty="0"/>
              <a:t>1. Frontend: </a:t>
            </a:r>
            <a:r>
              <a:rPr dirty="0" err="1"/>
              <a:t>Отправка</a:t>
            </a:r>
            <a:r>
              <a:rPr dirty="0"/>
              <a:t> </a:t>
            </a:r>
            <a:r>
              <a:rPr dirty="0" err="1"/>
              <a:t>ставки</a:t>
            </a:r>
            <a:r>
              <a:rPr dirty="0"/>
              <a:t> и ID </a:t>
            </a:r>
            <a:r>
              <a:rPr dirty="0" err="1"/>
              <a:t>игры</a:t>
            </a:r>
            <a:r>
              <a:rPr dirty="0"/>
              <a:t>.</a:t>
            </a:r>
          </a:p>
          <a:p>
            <a:pPr marL="0" indent="0">
              <a:buNone/>
            </a:pPr>
            <a:r>
              <a:rPr dirty="0"/>
              <a:t>2. DLL: </a:t>
            </a:r>
            <a:r>
              <a:rPr dirty="0" err="1"/>
              <a:t>Проверка</a:t>
            </a:r>
            <a:r>
              <a:rPr dirty="0"/>
              <a:t> </a:t>
            </a:r>
            <a:r>
              <a:rPr dirty="0" err="1"/>
              <a:t>валидности</a:t>
            </a:r>
            <a:r>
              <a:rPr dirty="0"/>
              <a:t> </a:t>
            </a:r>
            <a:r>
              <a:rPr dirty="0" err="1"/>
              <a:t>входных</a:t>
            </a:r>
            <a:r>
              <a:rPr dirty="0"/>
              <a:t> </a:t>
            </a:r>
            <a:r>
              <a:rPr dirty="0" err="1"/>
              <a:t>данных</a:t>
            </a:r>
            <a:r>
              <a:rPr dirty="0"/>
              <a:t> (verify()).</a:t>
            </a:r>
          </a:p>
          <a:p>
            <a:pPr marL="0" indent="0">
              <a:buNone/>
            </a:pPr>
            <a:r>
              <a:rPr dirty="0"/>
              <a:t>3. DLL: </a:t>
            </a:r>
            <a:r>
              <a:rPr dirty="0" err="1"/>
              <a:t>Генерация</a:t>
            </a:r>
            <a:r>
              <a:rPr dirty="0"/>
              <a:t> </a:t>
            </a:r>
            <a:r>
              <a:rPr dirty="0" err="1"/>
              <a:t>чисел</a:t>
            </a:r>
            <a:r>
              <a:rPr dirty="0"/>
              <a:t> (std::mt19937).</a:t>
            </a:r>
          </a:p>
          <a:p>
            <a:pPr marL="0" indent="0">
              <a:buNone/>
            </a:pPr>
            <a:r>
              <a:rPr dirty="0"/>
              <a:t>4. DLL: </a:t>
            </a:r>
            <a:r>
              <a:rPr dirty="0" err="1"/>
              <a:t>Формирование</a:t>
            </a:r>
            <a:r>
              <a:rPr dirty="0"/>
              <a:t> </a:t>
            </a:r>
            <a:r>
              <a:rPr dirty="0" err="1"/>
              <a:t>матрицы</a:t>
            </a:r>
            <a:r>
              <a:rPr dirty="0"/>
              <a:t> </a:t>
            </a:r>
            <a:r>
              <a:rPr dirty="0" err="1"/>
              <a:t>символов</a:t>
            </a:r>
            <a:r>
              <a:rPr dirty="0"/>
              <a:t>.</a:t>
            </a:r>
          </a:p>
          <a:p>
            <a:pPr marL="0" indent="0">
              <a:buNone/>
            </a:pPr>
            <a:r>
              <a:rPr dirty="0"/>
              <a:t>5. DLL: </a:t>
            </a:r>
            <a:r>
              <a:rPr dirty="0" err="1"/>
              <a:t>Подсчет</a:t>
            </a:r>
            <a:r>
              <a:rPr dirty="0"/>
              <a:t> </a:t>
            </a:r>
            <a:r>
              <a:rPr dirty="0" err="1"/>
              <a:t>выигрыша</a:t>
            </a:r>
            <a:r>
              <a:rPr dirty="0"/>
              <a:t> (</a:t>
            </a:r>
            <a:r>
              <a:rPr dirty="0" err="1"/>
              <a:t>CountMoney</a:t>
            </a:r>
            <a:r>
              <a:rPr dirty="0"/>
              <a:t>).</a:t>
            </a:r>
          </a:p>
          <a:p>
            <a:pPr marL="0" indent="0">
              <a:buNone/>
            </a:pPr>
            <a:r>
              <a:rPr dirty="0"/>
              <a:t>6. Database: </a:t>
            </a:r>
            <a:r>
              <a:rPr dirty="0" err="1"/>
              <a:t>Запись</a:t>
            </a:r>
            <a:r>
              <a:rPr dirty="0"/>
              <a:t> </a:t>
            </a:r>
            <a:r>
              <a:rPr dirty="0" err="1"/>
              <a:t>транзакции</a:t>
            </a:r>
            <a:r>
              <a:rPr dirty="0"/>
              <a:t>.</a:t>
            </a:r>
          </a:p>
          <a:p>
            <a:pPr marL="0" indent="0">
              <a:buNone/>
            </a:pPr>
            <a:r>
              <a:rPr dirty="0"/>
              <a:t>7. Frontend: </a:t>
            </a:r>
            <a:r>
              <a:rPr dirty="0" err="1"/>
              <a:t>Отрисовка</a:t>
            </a:r>
            <a:r>
              <a:rPr dirty="0"/>
              <a:t> </a:t>
            </a:r>
            <a:r>
              <a:rPr dirty="0" err="1"/>
              <a:t>анимации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Роли и Права доступа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9365" y="1734530"/>
            <a:ext cx="4232635" cy="4128942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dirty="0" err="1"/>
              <a:t>Игрок</a:t>
            </a:r>
            <a:r>
              <a:rPr dirty="0"/>
              <a:t> (Player):</a:t>
            </a:r>
          </a:p>
          <a:p>
            <a:r>
              <a:rPr dirty="0" err="1"/>
              <a:t>Стандартный</a:t>
            </a:r>
            <a:r>
              <a:rPr dirty="0"/>
              <a:t> </a:t>
            </a:r>
            <a:r>
              <a:rPr dirty="0" err="1"/>
              <a:t>доступ</a:t>
            </a:r>
            <a:r>
              <a:rPr dirty="0"/>
              <a:t> к </a:t>
            </a:r>
            <a:r>
              <a:rPr dirty="0" err="1"/>
              <a:t>играм</a:t>
            </a:r>
            <a:r>
              <a:rPr dirty="0"/>
              <a:t>.</a:t>
            </a:r>
          </a:p>
          <a:p>
            <a:endParaRPr dirty="0"/>
          </a:p>
          <a:p>
            <a:pPr marL="0" indent="0">
              <a:buNone/>
            </a:pPr>
            <a:r>
              <a:rPr dirty="0" err="1"/>
              <a:t>Администратор</a:t>
            </a:r>
            <a:r>
              <a:rPr dirty="0"/>
              <a:t> (Admin):</a:t>
            </a:r>
          </a:p>
          <a:p>
            <a:r>
              <a:rPr dirty="0" err="1"/>
              <a:t>Панель</a:t>
            </a:r>
            <a:r>
              <a:rPr dirty="0"/>
              <a:t> </a:t>
            </a:r>
            <a:r>
              <a:rPr dirty="0" err="1"/>
              <a:t>управления</a:t>
            </a:r>
            <a:r>
              <a:rPr dirty="0"/>
              <a:t> (Admin Panel).</a:t>
            </a:r>
          </a:p>
          <a:p>
            <a:r>
              <a:rPr dirty="0" err="1"/>
              <a:t>Сброс</a:t>
            </a:r>
            <a:r>
              <a:rPr dirty="0"/>
              <a:t> </a:t>
            </a:r>
            <a:r>
              <a:rPr dirty="0" err="1"/>
              <a:t>статистики</a:t>
            </a:r>
            <a:r>
              <a:rPr dirty="0"/>
              <a:t>, </a:t>
            </a:r>
            <a:r>
              <a:rPr dirty="0" err="1"/>
              <a:t>изменение</a:t>
            </a:r>
            <a:r>
              <a:rPr dirty="0"/>
              <a:t> </a:t>
            </a:r>
            <a:r>
              <a:rPr dirty="0" err="1"/>
              <a:t>баланса</a:t>
            </a:r>
            <a:r>
              <a:rPr dirty="0"/>
              <a:t>.</a:t>
            </a:r>
          </a:p>
          <a:p>
            <a:endParaRPr dirty="0"/>
          </a:p>
          <a:p>
            <a:pPr marL="0" indent="0">
              <a:buNone/>
            </a:pPr>
            <a:r>
              <a:rPr dirty="0" err="1"/>
              <a:t>Стример</a:t>
            </a:r>
            <a:r>
              <a:rPr dirty="0"/>
              <a:t> (Streamer):</a:t>
            </a:r>
          </a:p>
          <a:p>
            <a:r>
              <a:rPr dirty="0" err="1"/>
              <a:t>Режим</a:t>
            </a:r>
            <a:r>
              <a:rPr dirty="0"/>
              <a:t> </a:t>
            </a:r>
            <a:r>
              <a:rPr dirty="0" err="1"/>
              <a:t>повышенной</a:t>
            </a:r>
            <a:r>
              <a:rPr dirty="0"/>
              <a:t> </a:t>
            </a:r>
            <a:r>
              <a:rPr dirty="0" err="1"/>
              <a:t>удачи</a:t>
            </a:r>
            <a:r>
              <a:rPr dirty="0"/>
              <a:t> (Luck Value &gt; 100%).</a:t>
            </a:r>
          </a:p>
          <a:p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создания</a:t>
            </a:r>
            <a:r>
              <a:rPr dirty="0"/>
              <a:t> </a:t>
            </a:r>
            <a:r>
              <a:rPr dirty="0" err="1"/>
              <a:t>зрелищного</a:t>
            </a:r>
            <a:r>
              <a:rPr dirty="0"/>
              <a:t> </a:t>
            </a:r>
            <a:r>
              <a:rPr dirty="0" err="1"/>
              <a:t>контента</a:t>
            </a:r>
            <a:r>
              <a:rPr dirty="0"/>
              <a:t>.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AD739DC-3EA0-4253-A74F-803E3EB595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8817" y="2152929"/>
            <a:ext cx="4138111" cy="273958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Тестирование и Багфиксинг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2041" y="1632015"/>
            <a:ext cx="8059917" cy="419374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dirty="0" err="1"/>
              <a:t>Методы</a:t>
            </a:r>
            <a:r>
              <a:rPr dirty="0"/>
              <a:t>:</a:t>
            </a:r>
          </a:p>
          <a:p>
            <a:r>
              <a:rPr dirty="0"/>
              <a:t>Unit-</a:t>
            </a:r>
            <a:r>
              <a:rPr dirty="0" err="1"/>
              <a:t>тесты</a:t>
            </a:r>
            <a:r>
              <a:rPr dirty="0"/>
              <a:t> (C++).</a:t>
            </a:r>
          </a:p>
          <a:p>
            <a:r>
              <a:rPr dirty="0" err="1"/>
              <a:t>Ручное</a:t>
            </a:r>
            <a:r>
              <a:rPr dirty="0"/>
              <a:t> </a:t>
            </a:r>
            <a:r>
              <a:rPr dirty="0" err="1"/>
              <a:t>функциональное</a:t>
            </a:r>
            <a:r>
              <a:rPr dirty="0"/>
              <a:t> </a:t>
            </a:r>
            <a:r>
              <a:rPr dirty="0" err="1"/>
              <a:t>тестирование</a:t>
            </a:r>
            <a:r>
              <a:rPr dirty="0"/>
              <a:t>.</a:t>
            </a:r>
          </a:p>
          <a:p>
            <a:endParaRPr dirty="0"/>
          </a:p>
          <a:p>
            <a:pPr marL="0" indent="0">
              <a:buNone/>
            </a:pPr>
            <a:r>
              <a:rPr dirty="0" err="1"/>
              <a:t>Исправленные</a:t>
            </a:r>
            <a:r>
              <a:rPr dirty="0"/>
              <a:t> </a:t>
            </a:r>
            <a:r>
              <a:rPr dirty="0" err="1"/>
              <a:t>проблемы</a:t>
            </a:r>
            <a:r>
              <a:rPr dirty="0"/>
              <a:t>:</a:t>
            </a:r>
          </a:p>
          <a:p>
            <a:pPr marL="0" indent="0">
              <a:buNone/>
            </a:pPr>
            <a:r>
              <a:rPr lang="ru-RU" dirty="0"/>
              <a:t>	</a:t>
            </a:r>
            <a:r>
              <a:rPr dirty="0"/>
              <a:t>1. </a:t>
            </a:r>
            <a:r>
              <a:rPr dirty="0" err="1"/>
              <a:t>Баг</a:t>
            </a:r>
            <a:r>
              <a:rPr dirty="0"/>
              <a:t> с x100 </a:t>
            </a:r>
            <a:r>
              <a:rPr dirty="0" err="1"/>
              <a:t>балансом</a:t>
            </a:r>
            <a:r>
              <a:rPr dirty="0"/>
              <a:t> (</a:t>
            </a:r>
            <a:r>
              <a:rPr dirty="0" err="1"/>
              <a:t>ошибка</a:t>
            </a:r>
            <a:r>
              <a:rPr dirty="0"/>
              <a:t> </a:t>
            </a:r>
            <a:r>
              <a:rPr dirty="0" err="1"/>
              <a:t>центов</a:t>
            </a:r>
            <a:r>
              <a:rPr dirty="0"/>
              <a:t>).</a:t>
            </a:r>
          </a:p>
          <a:p>
            <a:pPr marL="0" indent="0">
              <a:buNone/>
            </a:pPr>
            <a:r>
              <a:rPr lang="ru-RU" dirty="0"/>
              <a:t>	</a:t>
            </a:r>
            <a:r>
              <a:rPr dirty="0"/>
              <a:t>2. </a:t>
            </a:r>
            <a:r>
              <a:rPr dirty="0" err="1"/>
              <a:t>Вылет</a:t>
            </a:r>
            <a:r>
              <a:rPr dirty="0"/>
              <a:t> </a:t>
            </a:r>
            <a:r>
              <a:rPr dirty="0" err="1"/>
              <a:t>при</a:t>
            </a:r>
            <a:r>
              <a:rPr dirty="0"/>
              <a:t> </a:t>
            </a:r>
            <a:r>
              <a:rPr dirty="0" err="1"/>
              <a:t>пустой</a:t>
            </a:r>
            <a:r>
              <a:rPr dirty="0"/>
              <a:t> </a:t>
            </a:r>
            <a:r>
              <a:rPr dirty="0" err="1"/>
              <a:t>истории</a:t>
            </a:r>
            <a:r>
              <a:rPr dirty="0"/>
              <a:t> </a:t>
            </a:r>
            <a:r>
              <a:rPr dirty="0" err="1"/>
              <a:t>раундов</a:t>
            </a:r>
            <a:r>
              <a:rPr dirty="0"/>
              <a:t>.</a:t>
            </a:r>
          </a:p>
          <a:p>
            <a:pPr marL="0" indent="0">
              <a:buNone/>
            </a:pPr>
            <a:r>
              <a:rPr lang="ru-RU" dirty="0"/>
              <a:t>	</a:t>
            </a:r>
            <a:r>
              <a:rPr dirty="0"/>
              <a:t>3. </a:t>
            </a:r>
            <a:r>
              <a:rPr dirty="0" err="1"/>
              <a:t>Зависание</a:t>
            </a:r>
            <a:r>
              <a:rPr dirty="0"/>
              <a:t> UI </a:t>
            </a:r>
            <a:r>
              <a:rPr dirty="0" err="1"/>
              <a:t>при</a:t>
            </a:r>
            <a:r>
              <a:rPr dirty="0"/>
              <a:t> </a:t>
            </a:r>
            <a:r>
              <a:rPr dirty="0" err="1"/>
              <a:t>быстрых</a:t>
            </a:r>
            <a:r>
              <a:rPr dirty="0"/>
              <a:t> </a:t>
            </a:r>
            <a:r>
              <a:rPr dirty="0" err="1"/>
              <a:t>кликах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Заключение и Планы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dirty="0" err="1"/>
              <a:t>Результаты</a:t>
            </a:r>
            <a:r>
              <a:rPr dirty="0"/>
              <a:t>:</a:t>
            </a:r>
          </a:p>
          <a:p>
            <a:r>
              <a:rPr dirty="0" err="1"/>
              <a:t>Готовый</a:t>
            </a:r>
            <a:r>
              <a:rPr dirty="0"/>
              <a:t> </a:t>
            </a:r>
            <a:r>
              <a:rPr dirty="0" err="1"/>
              <a:t>прототип</a:t>
            </a:r>
            <a:r>
              <a:rPr dirty="0"/>
              <a:t> </a:t>
            </a:r>
            <a:r>
              <a:rPr dirty="0" err="1"/>
              <a:t>кроссплатформенного</a:t>
            </a:r>
            <a:r>
              <a:rPr dirty="0"/>
              <a:t> </a:t>
            </a:r>
            <a:r>
              <a:rPr dirty="0" err="1"/>
              <a:t>казино</a:t>
            </a:r>
            <a:r>
              <a:rPr dirty="0"/>
              <a:t>.</a:t>
            </a:r>
          </a:p>
          <a:p>
            <a:r>
              <a:rPr dirty="0" err="1"/>
              <a:t>Гибридная</a:t>
            </a:r>
            <a:r>
              <a:rPr dirty="0"/>
              <a:t> </a:t>
            </a:r>
            <a:r>
              <a:rPr dirty="0" err="1"/>
              <a:t>архитектура</a:t>
            </a:r>
            <a:r>
              <a:rPr dirty="0"/>
              <a:t> (Web + Native).</a:t>
            </a:r>
          </a:p>
          <a:p>
            <a:r>
              <a:rPr dirty="0" err="1"/>
              <a:t>Полноценная</a:t>
            </a:r>
            <a:r>
              <a:rPr dirty="0"/>
              <a:t> БД и </a:t>
            </a:r>
            <a:r>
              <a:rPr dirty="0" err="1"/>
              <a:t>админка</a:t>
            </a:r>
            <a:r>
              <a:rPr dirty="0"/>
              <a:t>.</a:t>
            </a:r>
          </a:p>
          <a:p>
            <a:endParaRPr dirty="0"/>
          </a:p>
          <a:p>
            <a:pPr marL="0" indent="0">
              <a:buNone/>
            </a:pPr>
            <a:r>
              <a:rPr dirty="0" err="1"/>
              <a:t>Планы</a:t>
            </a:r>
            <a:r>
              <a:rPr dirty="0"/>
              <a:t> </a:t>
            </a:r>
            <a:r>
              <a:rPr dirty="0" err="1"/>
              <a:t>развития</a:t>
            </a:r>
            <a:r>
              <a:rPr dirty="0"/>
              <a:t>:</a:t>
            </a:r>
          </a:p>
          <a:p>
            <a:r>
              <a:rPr dirty="0" err="1"/>
              <a:t>Интеграция</a:t>
            </a:r>
            <a:r>
              <a:rPr dirty="0"/>
              <a:t> </a:t>
            </a:r>
            <a:r>
              <a:rPr dirty="0" err="1"/>
              <a:t>звукового</a:t>
            </a:r>
            <a:r>
              <a:rPr dirty="0"/>
              <a:t> </a:t>
            </a:r>
            <a:r>
              <a:rPr dirty="0" err="1"/>
              <a:t>движка</a:t>
            </a:r>
            <a:r>
              <a:rPr dirty="0"/>
              <a:t>.</a:t>
            </a:r>
          </a:p>
          <a:p>
            <a:r>
              <a:rPr dirty="0" err="1"/>
              <a:t>Переход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ImGui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оптимизации</a:t>
            </a:r>
            <a:r>
              <a:rPr dirty="0"/>
              <a:t>.</a:t>
            </a:r>
          </a:p>
          <a:p>
            <a:r>
              <a:rPr dirty="0" err="1"/>
              <a:t>Расширение</a:t>
            </a:r>
            <a:r>
              <a:rPr dirty="0"/>
              <a:t> </a:t>
            </a:r>
            <a:r>
              <a:rPr dirty="0" err="1"/>
              <a:t>библиотеки</a:t>
            </a:r>
            <a:r>
              <a:rPr dirty="0"/>
              <a:t> </a:t>
            </a:r>
            <a:r>
              <a:rPr dirty="0" err="1"/>
              <a:t>игр</a:t>
            </a:r>
            <a:r>
              <a:rPr dirty="0"/>
              <a:t> (</a:t>
            </a:r>
            <a:r>
              <a:rPr dirty="0" err="1"/>
              <a:t>Покер</a:t>
            </a:r>
            <a:r>
              <a:rPr dirty="0"/>
              <a:t>, </a:t>
            </a:r>
            <a:r>
              <a:rPr dirty="0" err="1"/>
              <a:t>Баккара</a:t>
            </a:r>
            <a:r>
              <a:rPr dirty="0"/>
              <a:t>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946</Words>
  <Application>Microsoft Macintosh PowerPoint</Application>
  <PresentationFormat>Экран (4:3)</PresentationFormat>
  <Paragraphs>195</Paragraphs>
  <Slides>20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Разработка приложения «Виртуальное казино»</vt:lpstr>
      <vt:lpstr>Цели и задачи проекта</vt:lpstr>
      <vt:lpstr>Актуальность и Значимость</vt:lpstr>
      <vt:lpstr>Анализ аналогов</vt:lpstr>
      <vt:lpstr>Выбор технологий (Tech Stack)</vt:lpstr>
      <vt:lpstr>Архитектура приложения</vt:lpstr>
      <vt:lpstr>Функциональные требования</vt:lpstr>
      <vt:lpstr>Качество системы (QoS)</vt:lpstr>
      <vt:lpstr>Интерфейс: Главное меню</vt:lpstr>
      <vt:lpstr>Игровая механика: Слоты</vt:lpstr>
      <vt:lpstr>Игровая механика: Black Jack</vt:lpstr>
      <vt:lpstr>Концептуальная модель БД</vt:lpstr>
      <vt:lpstr>Нормализация базы данных</vt:lpstr>
      <vt:lpstr>Физическая модель данных</vt:lpstr>
      <vt:lpstr>Система аналитики</vt:lpstr>
      <vt:lpstr>Реализация ядра (C++)</vt:lpstr>
      <vt:lpstr>Алгоритм генерации спина</vt:lpstr>
      <vt:lpstr>Роли и Права доступа</vt:lpstr>
      <vt:lpstr>Тестирование и Багфиксинг</vt:lpstr>
      <vt:lpstr>Заключение и Планы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Разработка приложения «Виртуальное казино»</dc:title>
  <dc:subject/>
  <dc:creator/>
  <cp:keywords/>
  <dc:description>generated using python-pptx</dc:description>
  <cp:lastModifiedBy>Lol Sadek</cp:lastModifiedBy>
  <cp:revision>5</cp:revision>
  <dcterms:created xsi:type="dcterms:W3CDTF">2013-01-27T09:14:16Z</dcterms:created>
  <dcterms:modified xsi:type="dcterms:W3CDTF">2025-12-25T06:06:09Z</dcterms:modified>
  <cp:category/>
</cp:coreProperties>
</file>